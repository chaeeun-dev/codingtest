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60"/>
  </p:notes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81" r:id="rId20"/>
    <p:sldId id="276" r:id="rId21"/>
    <p:sldId id="277" r:id="rId22"/>
    <p:sldId id="278" r:id="rId23"/>
    <p:sldId id="279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304" r:id="rId47"/>
    <p:sldId id="305" r:id="rId48"/>
    <p:sldId id="306" r:id="rId49"/>
    <p:sldId id="307" r:id="rId50"/>
    <p:sldId id="308" r:id="rId51"/>
    <p:sldId id="309" r:id="rId52"/>
    <p:sldId id="310" r:id="rId53"/>
    <p:sldId id="311" r:id="rId54"/>
    <p:sldId id="312" r:id="rId55"/>
    <p:sldId id="313" r:id="rId56"/>
    <p:sldId id="314" r:id="rId57"/>
    <p:sldId id="315" r:id="rId58"/>
    <p:sldId id="316" r:id="rId59"/>
  </p:sldIdLst>
  <p:sldSz cx="9144000" cy="6858000" type="screen4x3"/>
  <p:notesSz cx="6796088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1" autoAdjust="0"/>
    <p:restoredTop sz="94660"/>
  </p:normalViewPr>
  <p:slideViewPr>
    <p:cSldViewPr>
      <p:cViewPr varScale="1">
        <p:scale>
          <a:sx n="96" d="100"/>
          <a:sy n="96" d="100"/>
        </p:scale>
        <p:origin x="76" y="3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4812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D755AD21-19C0-49A3-8C7F-3EE70D30FEBF}" type="datetimeFigureOut">
              <a:rPr lang="ko-KR" altLang="en-US"/>
              <a:pPr>
                <a:defRPr/>
              </a:pPr>
              <a:t>2025-05-30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7188" cy="4467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4813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4812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 smtClean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8CEB46D-9B0E-47D1-8684-1DB50B81E07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5364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399BD248-42D7-44D8-991C-BF0E4233C8AD}" type="slidenum">
              <a:rPr lang="ko-KR" altLang="en-US"/>
              <a:pPr>
                <a:spcBef>
                  <a:spcPct val="0"/>
                </a:spcBef>
              </a:pPr>
              <a:t>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2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746D5-5C1C-5CFB-0E26-50977D177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C30AA492-2A35-85EA-4F8E-29A7E624CF9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23776D7D-5F5F-6A9B-321C-A6F57FE1DD9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CD6C0AFA-2BA8-5664-F22C-99A6C592BF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38551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FC3E8-D97A-9757-28AE-81FC3E528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0E679DC9-0776-62DA-FA0D-9B564ABB54E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C6097C87-5ED1-587E-38CB-2CF573E5FAB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9D0D0A7E-D8A6-D203-ED42-8C4AD1FC2B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56613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10693-0BB4-3886-3A67-403B26BBC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5C7A3D22-4231-5307-15D3-631E6DB8131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C914F786-4F0D-661A-4684-484A5E1283F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68F91F29-4F24-6E2B-7395-055D4CA68F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10947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B4C61-7876-6C1B-4B42-D11488FF3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B43B013E-985B-88F7-3375-14AECE10DDA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C170C06B-B913-0B02-E1E0-8738A0D23A0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F7E14755-34C3-9D6F-92F9-85DC8C1883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79705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B3F43-3E65-B512-9059-8EACB444F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54262D17-03A3-19CB-D9BE-E63CB26AEC7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CCAC2EA3-587C-8C80-57F2-5A4A46D0BF7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9702EDE9-CB7E-637E-4308-8ECF961AB3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47748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03B37-89D3-6976-2CBC-1F6E5648B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2F531817-B6E0-F630-A512-CF922265E7A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CD9703FA-2B6C-CF47-ABB2-DA1CCEE9A7E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DD7D57D9-6BBE-D6DF-70A7-83B88E1448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24319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7EC48-B1B2-0884-9D8C-8720F2B89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BD87E488-A91A-C2EE-F37D-45E2EC80E2F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4CCD6688-EDFA-9C12-C6EE-2C4D523CB7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964E6356-E8D1-2A3C-970B-5B18B88F05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89064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3A14C-BD7B-4BCB-9747-1B21EB46B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7C686CC2-152B-8522-3177-4EF35E1C18E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D8B96B40-4987-2AAE-EF5B-F13BF2736C5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50830190-7859-0146-7DE1-5C477BA9DC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11629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C3FB9-DD3F-3A69-D6FE-04DD16DE5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E3CBF740-5D4C-D7EE-0F99-FCE5B77C1E1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1F437760-C5CA-D4A2-22EC-B78E504CB93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28E51D73-B6B5-3661-C7E9-6F7D1893E6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8925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B2DA74-E1C4-649A-37AD-67D60C18F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B11EA490-72E3-F6AC-EB1C-42C08DA4509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3910AA8E-3549-BCD2-7EFD-FC535FACF39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3DC35B31-E485-01EC-8D85-8A659AF26A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29862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F0265-B0AE-85E8-A8B6-B5252294A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2C195956-5982-D9C4-6A3E-B326A5BEA25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469FD349-5B2D-7E40-AA0B-40BE3FFF8A8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AD99C297-DE88-2AD1-F691-E80A3A6A43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29002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B3097-3073-CBB7-68B6-0F3E3F427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3A86E756-8F24-BE31-2921-189279B9193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56072AEA-5D97-58CA-5152-86515B95590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9A4438EC-7E0C-BF82-AF83-C4B2FD7F12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84305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05B61-5FB1-123B-FC92-2E9D7EC19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8A626F7B-2723-8C7E-87C4-89746ACBAA6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97262714-89D9-DFD0-ED32-A66D02CCB62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D88E9701-EE60-4BC3-8799-CB677A786A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49366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30458-017C-8193-DD52-5C8F4D2CE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4042C826-5824-E40A-69BC-1F9205ECEC9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293043D8-AFCA-FD76-52F8-4CE9344C745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47988962-0441-6013-BF08-8BDC74B1A0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53376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06752-3DB1-6258-E984-B38A81266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5759B395-D11E-E3FD-656A-A8209349AEB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1F5B1FAD-57C4-D360-79CF-15668898788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908E958C-171F-76F6-1F15-93E3F80505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39966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12A6D-F8C4-D591-ED6B-C0BCFD0A4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AEB237A3-B8E2-1DB1-4AA9-12DCAD0BD4E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59106FBA-5EAF-20FE-ED57-F4DF71A77DD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05E2F523-66E9-EC41-8D6F-E63D05947C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72983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2C019-C03C-9128-D9BF-70AE9D2B5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E981F388-A368-FC1F-413C-F043117695B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5CCA4B87-3E55-77E8-6DEA-FB8A141EFC3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26C7C9B1-DDE8-C4DD-B867-0E191D4D24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35617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F7DC7-E238-E68A-F49E-097DE5A3E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24CAE8AB-0A7C-BF09-C1C4-13700029490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9B252BCC-E43C-6BB4-B73E-367ED080C70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83413E2D-6A3E-CBFB-C449-9BD074ACF5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634894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23142-85E2-40FE-64EF-D840387F6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F429EEA9-D72C-A354-4CC4-69F29B331F6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289C28F6-13C6-534F-742D-FAD9C64D5A8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CEEE3EAB-8507-7D4F-EB67-0A94F0A83F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27366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5EF37-B55C-C3F3-C058-3F0CED9EE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876FD696-8404-5636-85F5-121E4559D0F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DFD09B35-9267-33A4-0BB4-D2EDAFF5AA8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D19B739C-D678-55B1-9335-5E84C87148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326619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D949D-5534-7868-CD1E-1D456BBF1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5779E967-E960-E31F-0F55-EA0A3048CFB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DB0BA54C-6317-BE63-E5B6-AB7531A27DC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829BBAA0-AD85-F7D7-ACA0-428768BACC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724641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D2D9B-8894-9D3E-A7E5-B685BDC66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18734345-E26C-73A3-016D-A5319BA7FBE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0F2C0DE0-42F4-9BDB-32BB-340CCB3ADFE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EC990E44-39B9-374A-31CD-2D9FBB0B86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203297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5EAB7-12DE-9925-3D95-6A061AFB5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9637666F-2D3C-A3BC-9BF0-97902240556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1A150C23-C2D9-44D6-79C1-70D9F2666EE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075EA7FB-CFB9-FC3E-1950-2D7D645F40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551062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728E6-0622-3224-9559-E2FC024E5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1978F563-BD37-D06B-09F7-948FBB3A1AD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0554A28A-A620-F8CA-0FB4-936D98D3CC7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48221C80-B88A-088E-7DC3-440EECB179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277552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5F9F9-D906-7E7B-7187-AA2848FB6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5E68AAEF-6C85-2164-47B8-F6AC86C3D79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69F2D142-8A2C-B3B6-4E61-8C976178C8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2F0A46EC-B5CF-7A6F-E2EE-06299EEBAB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465094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936F2-BE2B-94D6-DCFC-CF3B16494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46D2C179-1F23-42B5-1E1F-2056A23B0F6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0099921C-345D-46D5-D88D-B0B2DF18F9F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4276B9B5-4AED-A050-C463-4616160C3F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411567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A6004-179A-245E-90F0-CE940FAB9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42A4B473-A401-3DB1-4032-B6213599DE5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EBA6A2CB-B812-0DF9-5961-207AB824124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2C9F664E-1EE4-BF89-4DC2-7E433DF0D7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615746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652ED-3242-A7E0-0571-FA89DAB47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AC130E1D-35D2-A3BB-7A96-0C5BF75D96E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E88DEF70-A2AD-EA61-7EE6-C8A65542A56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E12D6327-A173-E2B3-C06C-6267078B9D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259873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9B09F-1B0D-E8A9-C45E-66D19F39F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595AB3A3-9877-1AEF-0E88-DBA6175AEB9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0C61A373-9EA1-C0F7-D172-7FEB1DE6282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DD21FDFA-9F45-FF85-F78F-BA9A4AC472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80748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580AB-63A9-DF90-94DB-D1D056155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7F7FFD42-53BE-5F36-C951-5833624930A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3833980A-DED7-09F0-F8C3-8FDEF8099F7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EBB04B48-5C90-5FE2-E498-95E1A6A2FA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465719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564E9-2CD9-CB31-3708-B02B32407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FC0CDA1E-0583-CA8C-7872-DEC9283D311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042A60F4-8EBB-E9E1-B2D0-A8ED3E127F4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5633B273-27FA-15EF-BD16-94F5CF0311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144358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B88D1-CA94-1619-0BD9-737122E1D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A08E45D7-1871-1046-C13F-45F526642C2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77E99A22-2439-99D5-A381-8EE0898F13F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AC3A2560-8894-D21E-CF0C-CA65B92C45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021869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27A24-A4CD-D8BA-3903-073733076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1B3D636F-1697-C438-A8F8-F9E95CF0629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3B1C066E-96AE-6D8C-E324-2C1E72BB661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53C3BEA6-C929-3340-9A63-99CE01B869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357634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49608-323F-1047-269C-7C6AC178C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F48B088D-DF13-9756-3CB3-E557C762513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2DCA82A6-E8BD-DB14-8D74-544434C3964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61E54050-EAF2-1083-F743-48D800DFB1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21775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7485D-0500-09FC-F8F0-6FF637106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D3CB49A3-D06B-086D-5BAE-8D25EC73060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2EFD88A4-5ABE-5086-37AC-EBE9B0338F8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8DB5CE5A-9120-614F-C66F-1279FDF9C3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435655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8E291-C6CB-D059-9C15-49CF29A5F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F576B184-4DF1-FDAD-E2B9-5F8845A2B1E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AB844DF4-0EE2-BEA9-6577-A91D43CCC86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726E4507-EE07-D26E-904D-8C8CBA594F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633940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9CB48-AA93-93FF-A29A-511D142BC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635818F5-7C77-4692-6DFD-9E1C3AB448C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3DC6B03F-8B1B-D42E-5754-11E52DBB6B2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C8D2C569-84F8-3A2D-E829-B84BEC02C0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509741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D2941-051C-8BD2-907C-66A735024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23C8AB89-D203-35E6-F030-368FE819029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073F72F0-9A4B-F6CD-E682-EEB8D605640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872A8C7F-74D1-E580-B723-0F36400701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383348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1662D-4147-C205-3703-AE46B8E36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BC4E080D-932D-38F3-1F43-1872BD96F89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713FCBCB-C62E-73DE-E0FD-102DA04117D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FA6577FE-401E-77FB-ED11-8E30DA4756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736814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F581A-63EE-5147-DBD1-C69FEAAB1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FEC7ADE0-B48D-6317-A344-347C7DC1E08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7E82AB5D-16CD-3A48-651B-A3B35050715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0FB54CC1-E491-C937-B3A4-A69785D7B2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755836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22B9B-2388-0B60-502C-CA8022A85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414E9504-53BA-1CB9-5B15-453653A0028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6BB3A941-922B-A13F-F814-C5BF8DDE082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A05A067E-FA5A-A342-5A0B-DB34ED9034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345429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B21DD-E308-FD16-1DA3-F662972F0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3AD09308-D3F1-4293-C73E-EE5E01D04DA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5D0EC92A-A66E-33C8-3A4C-63B0F632FC6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390271CE-B907-3220-58A3-5F85D0095A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641944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1B76A-99BA-6B46-FFB7-C53047A36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DE52BC00-9B9D-2D1A-AC73-F143D737770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2892D1F0-644E-697B-7994-9557B4BA532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5901C16D-769D-C4CE-3B95-2AEBBC8667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173525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EEF79-9C1D-D943-65A5-02719E96C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C4BB34E6-CED8-7C1E-01ED-3E2FC712B7A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92D7B569-EB06-99EB-8909-BF0FE2A5A01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969F5B2F-E07B-9D4E-3CCA-C023D54E3C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293882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1AF3A-55D0-8CFC-CD8F-D54809ABB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7E883A27-67BD-3472-8E09-7F33F1B76D5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71FA7B0C-57AD-C115-76F5-D080E158FAD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BA9758D2-C258-1F22-692B-5C17E49D1F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387902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8DB64-810F-F1CB-235A-2CCC5B185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59CA6F9A-8386-D916-9EDE-8974D3C1B53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1A1F0667-6FE4-0C61-5819-0B3FBFF34B7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7B7AD3A2-2E8C-C2A7-DABA-96A0016648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404950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DF05C-CF9F-32A1-20DE-7566E8F87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0412E6BF-ACEB-0704-2921-AAF7545271E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5ECAC82C-7BE9-CC9B-F166-38FC2B8511E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C2AD3265-E703-409B-AB24-EFFAEC278B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296920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08F90-62DF-7CF7-A6AB-F208B8B34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3FDE2E96-F4E4-FE47-6B34-E4FB7C595FD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10A9A75F-D6DB-9366-55B1-134C2EEBF5F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5BA02024-2B44-2BD8-F156-7A1E7B994A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077289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F1E87-04E3-A35F-880F-CA1F402EB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DF385C2E-F7FB-CFBB-1B3D-57F981A0B57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2296EACF-919E-11C2-53E8-659A1ABC0D6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07101965-D2DE-96D4-2446-0B8C5FB3E9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744329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04A1C-D5C0-9B0F-B0BC-475F83470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FF330391-4611-E4E8-1B49-222ABF4A63E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034353D7-44EE-C287-CBCE-85378F71B90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4E6AA8EF-624C-B9BB-8ADE-E785C4D2E7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636868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AC578-78C7-0A6B-8C36-F50DD625B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CC290F2F-53D2-FC07-5CFE-CBBEB8C024B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188B4BDF-49A9-0D31-5488-EFBE83621BD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3DF5E323-7ED1-8126-87D8-3BE4328705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215908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59D0D-C0E9-EC62-7CE4-B25AA4B5A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CF8A1352-F60A-2E7C-4F99-0BD07402F6C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A8783A1A-D582-7887-A17C-90F7347FEE6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07727322-80A9-FDAD-3406-24B8D35E7F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515253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82930-2C01-5FFB-1A9F-3A1E0CC2D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6E2A309F-12E8-CF59-3D76-116522E3018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2613DA9B-DC3B-9AB9-CDF5-6AE501DD98E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E601A13A-A0CA-2DE2-295E-9E71FB3FA3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55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436716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B6B1E-65E4-1017-ED92-7F153904A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9717D812-0001-34D3-90FC-21BBD5FCF78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2BC7E9EA-29C8-B61D-72F4-B64FBE99F87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463635F8-BB29-7041-A30C-FBF56D53A0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56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94332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4AF62-386E-43D5-16E9-9C16426CA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DE382BFD-F82C-603B-AA99-1DA10F17ED6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DCC35C13-8D53-7AF4-BB08-16B8A6C07CF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E340D3F2-2895-0469-1274-D14B428CF6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57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288856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D88B0-7D36-8F88-434A-2AAAD329F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EB89C06F-9CCC-8B91-D203-40755ABF485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A903706B-6FEF-CF58-6E1B-0D50560344A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1D0398C5-07DC-C9E6-559A-4769E358CE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58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0574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14313" y="6356350"/>
            <a:ext cx="2643187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29CDB7A-47E2-4059-8EF4-A0640D1BC94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9203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484030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66700" y="6356350"/>
            <a:ext cx="3733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268DA64-E15D-4814-A1DA-86D92D55042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5784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6670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D6C9443-308F-41EB-9403-36E994EE3C1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3937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354F6A4-0517-45C2-862F-B475182F438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6419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6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8" name="날짜 개체 틀 6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9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666478B-8FBF-4F39-8AAE-C744841EBA9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3322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4" name="날짜 개체 틀 2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5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E7DB5AE-6182-458A-9442-7D0E5621EC3C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772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3" name="날짜 개체 틀 1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4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DF7FABC-72A3-4036-B860-C8EA1438AE6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1744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B92AEAB-351F-4F89-A116-7A44E83E55A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6088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3EE7A7B-3993-47B6-A1BC-0275495E6D5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1376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72FCFE9-07D1-4516-8BF2-C49BDADA48E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791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C30A18C-D925-420F-814E-C2D3F93C5265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8378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214313" y="6356350"/>
            <a:ext cx="25717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 smtClean="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0749D700-1C6B-4D65-B91E-BEEB48FB19C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  <p:sp>
        <p:nvSpPr>
          <p:cNvPr id="7" name="모서리가 둥근 직사각형 6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57" r:id="rId1"/>
    <p:sldLayoutId id="2147484158" r:id="rId2"/>
    <p:sldLayoutId id="2147484159" r:id="rId3"/>
    <p:sldLayoutId id="2147484160" r:id="rId4"/>
    <p:sldLayoutId id="2147484161" r:id="rId5"/>
    <p:sldLayoutId id="2147484162" r:id="rId6"/>
    <p:sldLayoutId id="2147484163" r:id="rId7"/>
    <p:sldLayoutId id="2147484164" r:id="rId8"/>
    <p:sldLayoutId id="2147484165" r:id="rId9"/>
    <p:sldLayoutId id="2147484166" r:id="rId10"/>
    <p:sldLayoutId id="2147484167" r:id="rId11"/>
  </p:sldLayoutIdLst>
  <p:hf hdr="0" ftr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3600" kern="1200">
          <a:solidFill>
            <a:srgbClr val="C00000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95536" y="2130425"/>
            <a:ext cx="8062664" cy="1470025"/>
          </a:xfrm>
        </p:spPr>
        <p:txBody>
          <a:bodyPr/>
          <a:lstStyle/>
          <a:p>
            <a:pPr eaLnBrk="1" hangingPunct="1"/>
            <a:r>
              <a:rPr lang="ko-KR" altLang="en-US" b="1" dirty="0">
                <a:solidFill>
                  <a:srgbClr val="0000FF"/>
                </a:solidFill>
              </a:rPr>
              <a:t>기타 그래프 이론</a:t>
            </a:r>
            <a:r>
              <a:rPr lang="en-US" altLang="ko-KR" b="1" dirty="0">
                <a:solidFill>
                  <a:srgbClr val="0000FF"/>
                </a:solidFill>
              </a:rPr>
              <a:t/>
            </a:r>
            <a:br>
              <a:rPr lang="en-US" altLang="ko-KR" b="1" dirty="0">
                <a:solidFill>
                  <a:srgbClr val="0000FF"/>
                </a:solidFill>
              </a:rPr>
            </a:br>
            <a:r>
              <a:rPr lang="en-US" altLang="ko-KR" b="1" dirty="0">
                <a:solidFill>
                  <a:srgbClr val="0000FF"/>
                </a:solidFill>
              </a:rPr>
              <a:t>(Union-Find</a:t>
            </a:r>
            <a:r>
              <a:rPr lang="ko-KR" altLang="en-US" b="1" dirty="0">
                <a:solidFill>
                  <a:srgbClr val="0000FF"/>
                </a:solidFill>
              </a:rPr>
              <a:t> 자료구조</a:t>
            </a:r>
            <a:r>
              <a:rPr lang="en-US" altLang="ko-KR" b="1" dirty="0">
                <a:solidFill>
                  <a:srgbClr val="0000FF"/>
                </a:solidFill>
              </a:rPr>
              <a:t>, </a:t>
            </a:r>
            <a:r>
              <a:rPr lang="ko-KR" altLang="en-US" b="1" dirty="0" err="1">
                <a:solidFill>
                  <a:srgbClr val="0000FF"/>
                </a:solidFill>
              </a:rPr>
              <a:t>최소신장트리</a:t>
            </a:r>
            <a:r>
              <a:rPr lang="en-US" altLang="ko-KR" b="1" dirty="0">
                <a:solidFill>
                  <a:srgbClr val="0000FF"/>
                </a:solidFill>
              </a:rPr>
              <a:t>, </a:t>
            </a:r>
            <a:r>
              <a:rPr lang="ko-KR" altLang="en-US" b="1" dirty="0" err="1">
                <a:solidFill>
                  <a:srgbClr val="0000FF"/>
                </a:solidFill>
              </a:rPr>
              <a:t>위상정렬</a:t>
            </a:r>
            <a:r>
              <a:rPr lang="en-US" altLang="ko-KR" b="1" dirty="0">
                <a:solidFill>
                  <a:srgbClr val="0000FF"/>
                </a:solidFill>
              </a:rPr>
              <a:t>) 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67544" y="3886200"/>
            <a:ext cx="8424936" cy="1752600"/>
          </a:xfrm>
        </p:spPr>
        <p:txBody>
          <a:bodyPr/>
          <a:lstStyle/>
          <a:p>
            <a:pPr lvl="1" eaLnBrk="1" hangingPunct="1"/>
            <a:r>
              <a:rPr lang="ko-KR" altLang="en-US" dirty="0">
                <a:solidFill>
                  <a:schemeClr val="tx1"/>
                </a:solidFill>
              </a:rPr>
              <a:t>담당교수 </a:t>
            </a:r>
            <a:r>
              <a:rPr lang="en-US" altLang="ko-KR" dirty="0">
                <a:solidFill>
                  <a:schemeClr val="tx1"/>
                </a:solidFill>
              </a:rPr>
              <a:t>: </a:t>
            </a:r>
            <a:r>
              <a:rPr lang="ko-KR" altLang="en-US" dirty="0">
                <a:solidFill>
                  <a:schemeClr val="tx1"/>
                </a:solidFill>
              </a:rPr>
              <a:t>김영식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/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2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b="1" dirty="0" err="1">
                <a:solidFill>
                  <a:srgbClr val="0000FF"/>
                </a:solidFill>
              </a:rPr>
              <a:t>서로소</a:t>
            </a:r>
            <a:r>
              <a:rPr lang="ko-KR" altLang="en-US" b="1" dirty="0">
                <a:solidFill>
                  <a:srgbClr val="0000FF"/>
                </a:solidFill>
              </a:rPr>
              <a:t> 집합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214438"/>
            <a:ext cx="8640960" cy="4911725"/>
          </a:xfrm>
        </p:spPr>
        <p:txBody>
          <a:bodyPr/>
          <a:lstStyle/>
          <a:p>
            <a:pPr algn="just" eaLnBrk="1" hangingPunct="1"/>
            <a:r>
              <a:rPr lang="ko-KR" altLang="en-US" sz="2000" dirty="0" err="1"/>
              <a:t>서로소</a:t>
            </a:r>
            <a:r>
              <a:rPr lang="ko-KR" altLang="en-US" sz="2000" dirty="0"/>
              <a:t> 집합</a:t>
            </a:r>
            <a:r>
              <a:rPr lang="en-US" altLang="ko-KR" sz="2000" dirty="0"/>
              <a:t>(Disjoint Sets)</a:t>
            </a:r>
            <a:r>
              <a:rPr lang="ko-KR" altLang="en-US" sz="2000" dirty="0"/>
              <a:t>란 </a:t>
            </a:r>
            <a:r>
              <a:rPr lang="ko-KR" altLang="en-US" sz="2000" b="1" dirty="0"/>
              <a:t>공통 원소가 없는 두 집합</a:t>
            </a:r>
            <a:r>
              <a:rPr lang="ko-KR" altLang="en-US" sz="2000" dirty="0"/>
              <a:t>을 의미</a:t>
            </a:r>
            <a:endParaRPr lang="en-US" altLang="ko-KR" sz="2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498BFEC-FD33-1281-7341-F0C9A91DE0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2276872"/>
            <a:ext cx="7236296" cy="315200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3242C-4549-9AD6-F07E-9609CD585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920F2B26-3916-2C28-FC89-7C5DD4BD0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3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5B2D1749-9936-74F3-6921-5696AACA547B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b="1" dirty="0" err="1">
                <a:solidFill>
                  <a:srgbClr val="0000FF"/>
                </a:solidFill>
              </a:rPr>
              <a:t>서로소</a:t>
            </a:r>
            <a:r>
              <a:rPr lang="ko-KR" altLang="en-US" b="1" dirty="0">
                <a:solidFill>
                  <a:srgbClr val="0000FF"/>
                </a:solidFill>
              </a:rPr>
              <a:t> 집합 자료구조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1AE9F750-32D1-8EC3-0FB3-1C75BDC95A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8"/>
            <a:ext cx="8640960" cy="4911725"/>
          </a:xfrm>
        </p:spPr>
        <p:txBody>
          <a:bodyPr/>
          <a:lstStyle/>
          <a:p>
            <a:pPr algn="just" eaLnBrk="1" hangingPunct="1"/>
            <a:r>
              <a:rPr lang="ko-KR" altLang="en-US" sz="2000" b="1" dirty="0" err="1"/>
              <a:t>서로소</a:t>
            </a:r>
            <a:r>
              <a:rPr lang="ko-KR" altLang="en-US" sz="2000" b="1" dirty="0"/>
              <a:t> 부분 집합들로 나누어진 원소들의 데이터를 처리하기 위한 자료구조</a:t>
            </a:r>
            <a:endParaRPr lang="en-US" altLang="ko-KR" sz="2000" b="1" dirty="0"/>
          </a:p>
          <a:p>
            <a:pPr algn="just" eaLnBrk="1" hangingPunct="1"/>
            <a:r>
              <a:rPr lang="ko-KR" altLang="en-US" sz="2000" dirty="0" err="1"/>
              <a:t>서로소</a:t>
            </a:r>
            <a:r>
              <a:rPr lang="ko-KR" altLang="en-US" sz="2000" dirty="0"/>
              <a:t> 집합 자료구조는 두 종류의 연산을 지원</a:t>
            </a:r>
            <a:endParaRPr lang="en-US" altLang="ko-KR" sz="2000" dirty="0"/>
          </a:p>
          <a:p>
            <a:pPr lvl="1" algn="just" eaLnBrk="1" hangingPunct="1"/>
            <a:r>
              <a:rPr lang="ko-KR" altLang="en-US" sz="1800" b="1" dirty="0"/>
              <a:t>합집합</a:t>
            </a:r>
            <a:r>
              <a:rPr lang="en-US" altLang="ko-KR" sz="1800" b="1" dirty="0"/>
              <a:t>(Union):</a:t>
            </a:r>
            <a:r>
              <a:rPr lang="ko-KR" altLang="en-US" sz="1800" b="1" dirty="0"/>
              <a:t> </a:t>
            </a:r>
            <a:r>
              <a:rPr lang="ko-KR" altLang="en-US" sz="1800" dirty="0"/>
              <a:t>두 개의 원소가 포함된 집합을 하나의 집합으로 합치는 연산</a:t>
            </a:r>
            <a:endParaRPr lang="en-US" altLang="ko-KR" sz="1800" dirty="0"/>
          </a:p>
          <a:p>
            <a:pPr lvl="1" algn="just" eaLnBrk="1" hangingPunct="1"/>
            <a:r>
              <a:rPr lang="ko-KR" altLang="en-US" sz="1800" b="1" dirty="0"/>
              <a:t>찾기</a:t>
            </a:r>
            <a:r>
              <a:rPr lang="en-US" altLang="ko-KR" sz="1800" b="1" dirty="0"/>
              <a:t>(Find): </a:t>
            </a:r>
            <a:r>
              <a:rPr lang="ko-KR" altLang="en-US" sz="1800" dirty="0"/>
              <a:t>특정한 원소가 속한 집합이 어떤 집합인지 알려주는 연산</a:t>
            </a:r>
            <a:endParaRPr lang="en-US" altLang="ko-KR" sz="1800" dirty="0"/>
          </a:p>
          <a:p>
            <a:pPr algn="just" eaLnBrk="1" hangingPunct="1"/>
            <a:r>
              <a:rPr lang="ko-KR" altLang="en-US" sz="2000" dirty="0" err="1"/>
              <a:t>서로소</a:t>
            </a:r>
            <a:r>
              <a:rPr lang="ko-KR" altLang="en-US" sz="2000" dirty="0"/>
              <a:t> 집합 자료구조는 </a:t>
            </a:r>
            <a:r>
              <a:rPr lang="ko-KR" altLang="en-US" sz="2000" b="1" dirty="0"/>
              <a:t>합치기 찾기</a:t>
            </a:r>
            <a:r>
              <a:rPr lang="en-US" altLang="ko-KR" sz="2000" b="1" dirty="0"/>
              <a:t>(Union Find) </a:t>
            </a:r>
            <a:r>
              <a:rPr lang="ko-KR" altLang="en-US" sz="2000" b="1" dirty="0"/>
              <a:t>자료구조</a:t>
            </a:r>
            <a:r>
              <a:rPr lang="ko-KR" altLang="en-US" sz="2000" dirty="0"/>
              <a:t>라고 불리기도 한다</a:t>
            </a:r>
            <a:r>
              <a:rPr lang="en-US" altLang="ko-KR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831358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2103B-F855-63F2-C015-95A339931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9AC32B43-360C-68E1-F450-9A151057B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4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52C51E0A-41A0-814B-8FF2-8DCA8F8DE541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b="1" dirty="0" err="1">
                <a:solidFill>
                  <a:srgbClr val="0000FF"/>
                </a:solidFill>
              </a:rPr>
              <a:t>서로소</a:t>
            </a:r>
            <a:r>
              <a:rPr lang="ko-KR" altLang="en-US" b="1" dirty="0">
                <a:solidFill>
                  <a:srgbClr val="0000FF"/>
                </a:solidFill>
              </a:rPr>
              <a:t> 집합 자료구조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79979EB6-9E1B-308E-4400-6DC3CC927A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8"/>
            <a:ext cx="8640960" cy="4911725"/>
          </a:xfrm>
        </p:spPr>
        <p:txBody>
          <a:bodyPr/>
          <a:lstStyle/>
          <a:p>
            <a:pPr algn="just" eaLnBrk="1" hangingPunct="1"/>
            <a:r>
              <a:rPr lang="ko-KR" altLang="en-US" sz="2000" dirty="0"/>
              <a:t>여러 개의 합치기 연산이 주어졌을 때 </a:t>
            </a:r>
            <a:r>
              <a:rPr lang="ko-KR" altLang="en-US" sz="2000" dirty="0" err="1"/>
              <a:t>서로소</a:t>
            </a:r>
            <a:r>
              <a:rPr lang="ko-KR" altLang="en-US" sz="2000" dirty="0"/>
              <a:t> 집합 자료구조의 동작 과정은 다음과 같다</a:t>
            </a:r>
            <a:r>
              <a:rPr lang="en-US" altLang="ko-KR" sz="2000" dirty="0"/>
              <a:t>.</a:t>
            </a:r>
          </a:p>
          <a:p>
            <a:pPr marL="457200" indent="-457200" algn="just" eaLnBrk="1" hangingPunct="1">
              <a:buFont typeface="+mj-lt"/>
              <a:buAutoNum type="arabicPeriod"/>
            </a:pPr>
            <a:r>
              <a:rPr lang="ko-KR" altLang="en-US" sz="2000" dirty="0"/>
              <a:t>합집합</a:t>
            </a:r>
            <a:r>
              <a:rPr lang="en-US" altLang="ko-KR" sz="2000" dirty="0"/>
              <a:t>(Union) </a:t>
            </a:r>
            <a:r>
              <a:rPr lang="ko-KR" altLang="en-US" sz="2000" dirty="0"/>
              <a:t>연산을</a:t>
            </a:r>
            <a:r>
              <a:rPr lang="en-US" altLang="ko-KR" sz="2000" dirty="0"/>
              <a:t> </a:t>
            </a:r>
            <a:r>
              <a:rPr lang="ko-KR" altLang="en-US" sz="2000" dirty="0"/>
              <a:t>확인하여</a:t>
            </a:r>
            <a:r>
              <a:rPr lang="en-US" altLang="ko-KR" sz="2000" dirty="0"/>
              <a:t>, </a:t>
            </a:r>
            <a:r>
              <a:rPr lang="ko-KR" altLang="en-US" sz="2000" dirty="0"/>
              <a:t>서로 연결된 두 노드 </a:t>
            </a:r>
            <a:r>
              <a:rPr lang="en-US" altLang="ko-KR" sz="2000" dirty="0"/>
              <a:t>A, B</a:t>
            </a:r>
            <a:r>
              <a:rPr lang="ko-KR" altLang="en-US" sz="2000" dirty="0"/>
              <a:t>를 확인</a:t>
            </a:r>
            <a:endParaRPr lang="en-US" altLang="ko-KR" sz="2000" dirty="0"/>
          </a:p>
          <a:p>
            <a:pPr marL="857250" lvl="1" indent="-457200" algn="just" eaLnBrk="1" hangingPunct="1">
              <a:buFont typeface="+mj-lt"/>
              <a:buAutoNum type="arabicPeriod"/>
            </a:pPr>
            <a:r>
              <a:rPr lang="en-US" altLang="ko-KR" sz="1800" dirty="0"/>
              <a:t>A</a:t>
            </a:r>
            <a:r>
              <a:rPr lang="ko-KR" altLang="en-US" sz="1800" dirty="0"/>
              <a:t>와 </a:t>
            </a:r>
            <a:r>
              <a:rPr lang="en-US" altLang="ko-KR" sz="1800" dirty="0"/>
              <a:t>B</a:t>
            </a:r>
            <a:r>
              <a:rPr lang="ko-KR" altLang="en-US" sz="1800" dirty="0"/>
              <a:t>의 루트 노드 </a:t>
            </a:r>
            <a:r>
              <a:rPr lang="en-US" altLang="ko-KR" sz="1800" dirty="0"/>
              <a:t>A‘, B’ </a:t>
            </a:r>
            <a:r>
              <a:rPr lang="ko-KR" altLang="en-US" sz="1800" dirty="0"/>
              <a:t>를 각각 찾는다</a:t>
            </a:r>
            <a:r>
              <a:rPr lang="en-US" altLang="ko-KR" sz="1800" dirty="0"/>
              <a:t>. </a:t>
            </a:r>
          </a:p>
          <a:p>
            <a:pPr marL="857250" lvl="1" indent="-457200" algn="just" eaLnBrk="1" hangingPunct="1">
              <a:buFont typeface="+mj-lt"/>
              <a:buAutoNum type="arabicPeriod"/>
            </a:pPr>
            <a:r>
              <a:rPr lang="en-US" altLang="ko-KR" sz="1800" dirty="0"/>
              <a:t>A’</a:t>
            </a:r>
            <a:r>
              <a:rPr lang="ko-KR" altLang="en-US" sz="1800" dirty="0"/>
              <a:t>를 </a:t>
            </a:r>
            <a:r>
              <a:rPr lang="en-US" altLang="ko-KR" sz="1800" dirty="0"/>
              <a:t>B’</a:t>
            </a:r>
            <a:r>
              <a:rPr lang="ko-KR" altLang="en-US" sz="1800" dirty="0"/>
              <a:t>의 부모 노드로 설정한다</a:t>
            </a:r>
            <a:r>
              <a:rPr lang="en-US" altLang="ko-KR" sz="1800" dirty="0"/>
              <a:t>.</a:t>
            </a:r>
          </a:p>
          <a:p>
            <a:pPr marL="457200" indent="-457200" algn="just" eaLnBrk="1" hangingPunct="1">
              <a:buFont typeface="+mj-lt"/>
              <a:buAutoNum type="arabicPeriod"/>
            </a:pPr>
            <a:r>
              <a:rPr lang="ko-KR" altLang="en-US" sz="2000" dirty="0"/>
              <a:t>모든 합집합</a:t>
            </a:r>
            <a:r>
              <a:rPr lang="en-US" altLang="ko-KR" sz="2000" dirty="0"/>
              <a:t>(Union) </a:t>
            </a:r>
            <a:r>
              <a:rPr lang="ko-KR" altLang="en-US" sz="2000" dirty="0"/>
              <a:t>연산을 처리할 때까지 </a:t>
            </a:r>
            <a:r>
              <a:rPr lang="en-US" altLang="ko-KR" sz="2000" dirty="0"/>
              <a:t>1</a:t>
            </a:r>
            <a:r>
              <a:rPr lang="ko-KR" altLang="en-US" sz="2000" dirty="0"/>
              <a:t>번의 과정을 반복한다</a:t>
            </a:r>
            <a:r>
              <a:rPr lang="en-US" altLang="ko-KR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71486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12187-C0B4-389A-CB86-393427B29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12FCACFF-FC61-1D21-B62E-505FA10E0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5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9889E10C-CB3D-5583-DC77-1BDB0F2A48D8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sz="3200" b="1" dirty="0" err="1">
                <a:solidFill>
                  <a:srgbClr val="0000FF"/>
                </a:solidFill>
              </a:rPr>
              <a:t>서로소</a:t>
            </a:r>
            <a:r>
              <a:rPr lang="ko-KR" altLang="en-US" sz="3200" b="1" dirty="0">
                <a:solidFill>
                  <a:srgbClr val="0000FF"/>
                </a:solidFill>
              </a:rPr>
              <a:t> 집합 자료구조</a:t>
            </a:r>
            <a:r>
              <a:rPr lang="en-US" altLang="ko-KR" sz="3200" b="1" dirty="0">
                <a:solidFill>
                  <a:srgbClr val="0000FF"/>
                </a:solidFill>
              </a:rPr>
              <a:t>: </a:t>
            </a:r>
            <a:r>
              <a:rPr lang="ko-KR" altLang="en-US" sz="3200" b="1" dirty="0">
                <a:solidFill>
                  <a:srgbClr val="0000FF"/>
                </a:solidFill>
              </a:rPr>
              <a:t>동작 과정 살펴보기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F7DFE0A-CC7B-EB4E-94E3-A2AC1F197E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1779132"/>
            <a:ext cx="8532440" cy="3079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7441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C0032-5A59-3177-78E9-664FF8A33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10568F47-86B2-2186-C53F-636CAC57B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6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91794478-4609-FBD8-8F40-56C72902E2B9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sz="3200" b="1" dirty="0" err="1">
                <a:solidFill>
                  <a:srgbClr val="0000FF"/>
                </a:solidFill>
              </a:rPr>
              <a:t>서로소</a:t>
            </a:r>
            <a:r>
              <a:rPr lang="ko-KR" altLang="en-US" sz="3200" b="1" dirty="0">
                <a:solidFill>
                  <a:srgbClr val="0000FF"/>
                </a:solidFill>
              </a:rPr>
              <a:t> 집합 자료구조</a:t>
            </a:r>
            <a:r>
              <a:rPr lang="en-US" altLang="ko-KR" sz="3200" b="1" dirty="0">
                <a:solidFill>
                  <a:srgbClr val="0000FF"/>
                </a:solidFill>
              </a:rPr>
              <a:t>: </a:t>
            </a:r>
            <a:r>
              <a:rPr lang="ko-KR" altLang="en-US" sz="3200" b="1" dirty="0">
                <a:solidFill>
                  <a:srgbClr val="0000FF"/>
                </a:solidFill>
              </a:rPr>
              <a:t>동작 과정 살펴보기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C75135D-3AED-D0EC-8BE4-1ADDC75F96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1474769"/>
            <a:ext cx="8615175" cy="3682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11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E4A7E-4F89-095A-5C84-ECD1B3C2B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4722618C-F730-253B-076A-AE5304643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7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22142179-3A28-2F2F-9104-A25DB9E2B7AB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sz="3200" b="1" dirty="0" err="1">
                <a:solidFill>
                  <a:srgbClr val="0000FF"/>
                </a:solidFill>
              </a:rPr>
              <a:t>서로소</a:t>
            </a:r>
            <a:r>
              <a:rPr lang="ko-KR" altLang="en-US" sz="3200" b="1" dirty="0">
                <a:solidFill>
                  <a:srgbClr val="0000FF"/>
                </a:solidFill>
              </a:rPr>
              <a:t> 집합 자료구조</a:t>
            </a:r>
            <a:r>
              <a:rPr lang="en-US" altLang="ko-KR" sz="3200" b="1" dirty="0">
                <a:solidFill>
                  <a:srgbClr val="0000FF"/>
                </a:solidFill>
              </a:rPr>
              <a:t>: </a:t>
            </a:r>
            <a:r>
              <a:rPr lang="ko-KR" altLang="en-US" sz="3200" b="1" dirty="0">
                <a:solidFill>
                  <a:srgbClr val="0000FF"/>
                </a:solidFill>
              </a:rPr>
              <a:t>동작 과정 살펴보기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BAC679-C36C-422E-A84A-0B4373E579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1456975"/>
            <a:ext cx="8578693" cy="3700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4992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13A84-D2FF-2941-D157-DF2F87D4F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ECE3EEBF-0239-DD69-AFF0-AD6F6302C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8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772E6A2B-835C-422B-B8C0-917F88A3692C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sz="3200" b="1" dirty="0" err="1">
                <a:solidFill>
                  <a:srgbClr val="0000FF"/>
                </a:solidFill>
              </a:rPr>
              <a:t>서로소</a:t>
            </a:r>
            <a:r>
              <a:rPr lang="ko-KR" altLang="en-US" sz="3200" b="1" dirty="0">
                <a:solidFill>
                  <a:srgbClr val="0000FF"/>
                </a:solidFill>
              </a:rPr>
              <a:t> 집합 자료구조</a:t>
            </a:r>
            <a:r>
              <a:rPr lang="en-US" altLang="ko-KR" sz="3200" b="1" dirty="0">
                <a:solidFill>
                  <a:srgbClr val="0000FF"/>
                </a:solidFill>
              </a:rPr>
              <a:t>: </a:t>
            </a:r>
            <a:r>
              <a:rPr lang="ko-KR" altLang="en-US" sz="3200" b="1" dirty="0">
                <a:solidFill>
                  <a:srgbClr val="0000FF"/>
                </a:solidFill>
              </a:rPr>
              <a:t>동작 과정 살펴보기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18F9342-DF93-390A-CE69-A272730FD1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1474443"/>
            <a:ext cx="8614501" cy="3682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7605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B891C-483F-B1CF-CF4B-5E4044E1B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8D315B14-6542-18A2-64EC-FE7584A23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9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309E230F-B026-0DF1-94A2-ED121DAB5234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sz="3200" b="1" dirty="0" err="1">
                <a:solidFill>
                  <a:srgbClr val="0000FF"/>
                </a:solidFill>
              </a:rPr>
              <a:t>서로소</a:t>
            </a:r>
            <a:r>
              <a:rPr lang="ko-KR" altLang="en-US" sz="3200" b="1" dirty="0">
                <a:solidFill>
                  <a:srgbClr val="0000FF"/>
                </a:solidFill>
              </a:rPr>
              <a:t> 집합 자료구조</a:t>
            </a:r>
            <a:r>
              <a:rPr lang="en-US" altLang="ko-KR" sz="3200" b="1" dirty="0">
                <a:solidFill>
                  <a:srgbClr val="0000FF"/>
                </a:solidFill>
              </a:rPr>
              <a:t>: </a:t>
            </a:r>
            <a:r>
              <a:rPr lang="ko-KR" altLang="en-US" sz="3200" b="1" dirty="0">
                <a:solidFill>
                  <a:srgbClr val="0000FF"/>
                </a:solidFill>
              </a:rPr>
              <a:t>동작 과정 살펴보기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DE4FD59-5C99-F45A-E25D-4F1E19A7D6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1485151"/>
            <a:ext cx="8636770" cy="3672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3125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D60DB-0E9B-96F3-4139-CDE68F2ED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2DF22653-5E7F-33AB-AF11-C40C59D34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10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C58AE0D7-9860-EE71-2F2D-19471D2F234D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b="1" dirty="0" err="1">
                <a:solidFill>
                  <a:srgbClr val="0000FF"/>
                </a:solidFill>
              </a:rPr>
              <a:t>서로소</a:t>
            </a:r>
            <a:r>
              <a:rPr lang="ko-KR" altLang="en-US" b="1" dirty="0">
                <a:solidFill>
                  <a:srgbClr val="0000FF"/>
                </a:solidFill>
              </a:rPr>
              <a:t> 집합 자료구조</a:t>
            </a:r>
            <a:r>
              <a:rPr lang="en-US" altLang="ko-KR" b="1" dirty="0">
                <a:solidFill>
                  <a:srgbClr val="0000FF"/>
                </a:solidFill>
              </a:rPr>
              <a:t>: </a:t>
            </a:r>
            <a:r>
              <a:rPr lang="ko-KR" altLang="en-US" b="1" dirty="0">
                <a:solidFill>
                  <a:srgbClr val="0000FF"/>
                </a:solidFill>
              </a:rPr>
              <a:t>연결성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968119FF-CB05-49C7-4207-1F878800F3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8"/>
            <a:ext cx="8640960" cy="4911725"/>
          </a:xfrm>
        </p:spPr>
        <p:txBody>
          <a:bodyPr/>
          <a:lstStyle/>
          <a:p>
            <a:pPr algn="just" eaLnBrk="1" hangingPunct="1"/>
            <a:r>
              <a:rPr lang="ko-KR" altLang="en-US" sz="2000" dirty="0" err="1"/>
              <a:t>서로소</a:t>
            </a:r>
            <a:r>
              <a:rPr lang="ko-KR" altLang="en-US" sz="2000" dirty="0"/>
              <a:t> 집합 자료구조에서는 연결성을 통해 손쉽게 집합의 형태를 확인</a:t>
            </a:r>
            <a:endParaRPr lang="en-US" altLang="ko-KR" sz="20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3BD7BC3-7EB7-24AC-134A-AA6FDDE246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16" y="2023935"/>
            <a:ext cx="7380312" cy="3692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0824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34CC7-869E-144F-9AEC-9BE512F2F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362C3FC4-3742-E457-DAAD-DD8EF4DC1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11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42978BBA-C2D6-9F36-AB9A-CE159EBED859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b="1" dirty="0" err="1">
                <a:solidFill>
                  <a:srgbClr val="0000FF"/>
                </a:solidFill>
              </a:rPr>
              <a:t>서로소</a:t>
            </a:r>
            <a:r>
              <a:rPr lang="ko-KR" altLang="en-US" b="1" dirty="0">
                <a:solidFill>
                  <a:srgbClr val="0000FF"/>
                </a:solidFill>
              </a:rPr>
              <a:t> 집합 자료구조</a:t>
            </a:r>
            <a:r>
              <a:rPr lang="en-US" altLang="ko-KR" b="1" dirty="0">
                <a:solidFill>
                  <a:srgbClr val="0000FF"/>
                </a:solidFill>
              </a:rPr>
              <a:t>: </a:t>
            </a:r>
            <a:r>
              <a:rPr lang="ko-KR" altLang="en-US" b="1" dirty="0">
                <a:solidFill>
                  <a:srgbClr val="0000FF"/>
                </a:solidFill>
              </a:rPr>
              <a:t>연결성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7736C7C2-F0EC-79D1-4D6D-5880176995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8"/>
            <a:ext cx="8640960" cy="4911725"/>
          </a:xfrm>
        </p:spPr>
        <p:txBody>
          <a:bodyPr/>
          <a:lstStyle/>
          <a:p>
            <a:pPr algn="just" eaLnBrk="1" hangingPunct="1"/>
            <a:r>
              <a:rPr lang="ko-KR" altLang="en-US" sz="2000" dirty="0"/>
              <a:t>기본적인 형태의 </a:t>
            </a:r>
            <a:r>
              <a:rPr lang="ko-KR" altLang="en-US" sz="2000" dirty="0" err="1"/>
              <a:t>서로소</a:t>
            </a:r>
            <a:r>
              <a:rPr lang="ko-KR" altLang="en-US" sz="2000" dirty="0"/>
              <a:t> 집합 자료구조에서는 루트 노드에 즉시 접근할 수 없다</a:t>
            </a:r>
            <a:r>
              <a:rPr lang="en-US" altLang="ko-KR" sz="2000" dirty="0"/>
              <a:t>. </a:t>
            </a:r>
          </a:p>
          <a:p>
            <a:pPr lvl="1" algn="just" eaLnBrk="1" hangingPunct="1"/>
            <a:r>
              <a:rPr lang="ko-KR" altLang="en-US" sz="1800" dirty="0"/>
              <a:t>루트 노드를 찾기 위해서 </a:t>
            </a:r>
            <a:r>
              <a:rPr lang="ko-KR" altLang="en-US" sz="1800" b="1" dirty="0"/>
              <a:t>부모 테이블을 계속해서 확인</a:t>
            </a:r>
            <a:r>
              <a:rPr lang="ko-KR" altLang="en-US" sz="1800" dirty="0"/>
              <a:t>하며 거슬러 올라가야 한다</a:t>
            </a:r>
            <a:r>
              <a:rPr lang="en-US" altLang="ko-KR" sz="1800" dirty="0"/>
              <a:t>.</a:t>
            </a:r>
          </a:p>
          <a:p>
            <a:pPr algn="just" eaLnBrk="1" hangingPunct="1"/>
            <a:r>
              <a:rPr lang="ko-KR" altLang="en-US" sz="2000" dirty="0"/>
              <a:t>다음 예시에서 노드 </a:t>
            </a:r>
            <a:r>
              <a:rPr lang="en-US" altLang="ko-KR" sz="2000" dirty="0"/>
              <a:t>3</a:t>
            </a:r>
            <a:r>
              <a:rPr lang="ko-KR" altLang="en-US" sz="2000" dirty="0"/>
              <a:t>의 루트를 찾기 위해서는 노드 </a:t>
            </a:r>
            <a:r>
              <a:rPr lang="en-US" altLang="ko-KR" sz="2000" dirty="0"/>
              <a:t>2</a:t>
            </a:r>
            <a:r>
              <a:rPr lang="ko-KR" altLang="en-US" sz="2000" dirty="0"/>
              <a:t>를 거쳐 노드 </a:t>
            </a:r>
            <a:r>
              <a:rPr lang="en-US" altLang="ko-KR" sz="2000" dirty="0"/>
              <a:t>1</a:t>
            </a:r>
            <a:r>
              <a:rPr lang="ko-KR" altLang="en-US" sz="2000" dirty="0"/>
              <a:t>에 접근해야 한다</a:t>
            </a:r>
            <a:r>
              <a:rPr lang="en-US" altLang="ko-KR" sz="2000" dirty="0"/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C86F8EA-5231-AA8B-8B24-4AA004816C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7704" y="3422723"/>
            <a:ext cx="5940152" cy="2927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192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CD2CD-89F1-2230-C42B-AC2494D46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22F62CB4-683C-4DF2-7BFE-2FBEF7F55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12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B8146B5B-FADD-16D4-C8B6-4ACB9E9E7128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1520" y="274638"/>
            <a:ext cx="8712968" cy="868362"/>
          </a:xfrm>
        </p:spPr>
        <p:txBody>
          <a:bodyPr/>
          <a:lstStyle/>
          <a:p>
            <a:pPr eaLnBrk="1" hangingPunct="1"/>
            <a:r>
              <a:rPr lang="ko-KR" altLang="en-US" sz="2800" b="1" dirty="0" err="1">
                <a:solidFill>
                  <a:srgbClr val="0000FF"/>
                </a:solidFill>
              </a:rPr>
              <a:t>서로소</a:t>
            </a:r>
            <a:r>
              <a:rPr lang="ko-KR" altLang="en-US" sz="2800" b="1" dirty="0">
                <a:solidFill>
                  <a:srgbClr val="0000FF"/>
                </a:solidFill>
              </a:rPr>
              <a:t> 집합 자료구조</a:t>
            </a:r>
            <a:r>
              <a:rPr lang="en-US" altLang="ko-KR" sz="2800" b="1" dirty="0">
                <a:solidFill>
                  <a:srgbClr val="0000FF"/>
                </a:solidFill>
              </a:rPr>
              <a:t>: </a:t>
            </a:r>
            <a:r>
              <a:rPr lang="ko-KR" altLang="en-US" sz="2800" b="1" dirty="0">
                <a:solidFill>
                  <a:srgbClr val="0000FF"/>
                </a:solidFill>
              </a:rPr>
              <a:t>기본적인 구현 방법 </a:t>
            </a:r>
            <a:r>
              <a:rPr lang="en-US" altLang="ko-KR" sz="2800" b="1" dirty="0">
                <a:solidFill>
                  <a:srgbClr val="0000FF"/>
                </a:solidFill>
              </a:rPr>
              <a:t>(Python)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9BAED9D-D461-0F70-5C7B-53A9FAC08B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1084188"/>
            <a:ext cx="8460432" cy="5153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2138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93756-C542-1E58-FAC6-D7749DF5E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02670E44-AECC-D428-2F57-E25F20C54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13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2EFC6B26-90F2-922E-BF98-4031DED9601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1520" y="274638"/>
            <a:ext cx="8712968" cy="868362"/>
          </a:xfrm>
        </p:spPr>
        <p:txBody>
          <a:bodyPr/>
          <a:lstStyle/>
          <a:p>
            <a:pPr eaLnBrk="1" hangingPunct="1"/>
            <a:r>
              <a:rPr lang="ko-KR" altLang="en-US" sz="2800" b="1" dirty="0" err="1">
                <a:solidFill>
                  <a:srgbClr val="0000FF"/>
                </a:solidFill>
              </a:rPr>
              <a:t>서로소</a:t>
            </a:r>
            <a:r>
              <a:rPr lang="ko-KR" altLang="en-US" sz="2800" b="1" dirty="0">
                <a:solidFill>
                  <a:srgbClr val="0000FF"/>
                </a:solidFill>
              </a:rPr>
              <a:t> 집합 자료구조</a:t>
            </a:r>
            <a:r>
              <a:rPr lang="en-US" altLang="ko-KR" sz="2800" b="1" dirty="0">
                <a:solidFill>
                  <a:srgbClr val="0000FF"/>
                </a:solidFill>
              </a:rPr>
              <a:t>: </a:t>
            </a:r>
            <a:r>
              <a:rPr lang="ko-KR" altLang="en-US" sz="2800" b="1" dirty="0">
                <a:solidFill>
                  <a:srgbClr val="0000FF"/>
                </a:solidFill>
              </a:rPr>
              <a:t>기본적인 구현 방법 </a:t>
            </a:r>
            <a:r>
              <a:rPr lang="en-US" altLang="ko-KR" sz="2800" b="1" dirty="0">
                <a:solidFill>
                  <a:srgbClr val="0000FF"/>
                </a:solidFill>
              </a:rPr>
              <a:t>(C++)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3034B97-A330-D6F5-4DFA-DD28A18FC1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158" y="1008112"/>
            <a:ext cx="7353683" cy="5589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9205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DC33B-5071-BE1B-423A-8387EA8BE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0D8EACAC-D69F-6992-D898-2F013C2FC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14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49AC8E04-7BAE-A5C9-9B32-084C20F21112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1520" y="274638"/>
            <a:ext cx="8640960" cy="868362"/>
          </a:xfrm>
        </p:spPr>
        <p:txBody>
          <a:bodyPr/>
          <a:lstStyle/>
          <a:p>
            <a:pPr eaLnBrk="1" hangingPunct="1"/>
            <a:r>
              <a:rPr lang="ko-KR" altLang="en-US" sz="2800" b="1" dirty="0" err="1">
                <a:solidFill>
                  <a:srgbClr val="0000FF"/>
                </a:solidFill>
              </a:rPr>
              <a:t>서로소</a:t>
            </a:r>
            <a:r>
              <a:rPr lang="ko-KR" altLang="en-US" sz="2800" b="1" dirty="0">
                <a:solidFill>
                  <a:srgbClr val="0000FF"/>
                </a:solidFill>
              </a:rPr>
              <a:t> 집합 자료구조</a:t>
            </a:r>
            <a:r>
              <a:rPr lang="en-US" altLang="ko-KR" sz="2800" b="1" dirty="0">
                <a:solidFill>
                  <a:srgbClr val="0000FF"/>
                </a:solidFill>
              </a:rPr>
              <a:t>: </a:t>
            </a:r>
            <a:r>
              <a:rPr lang="ko-KR" altLang="en-US" sz="2800" b="1" dirty="0">
                <a:solidFill>
                  <a:srgbClr val="0000FF"/>
                </a:solidFill>
              </a:rPr>
              <a:t>기본적인 구현 방법의 문제점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69767BF8-17E0-6BA7-E15E-A68B802D38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8"/>
            <a:ext cx="8640960" cy="4911725"/>
          </a:xfrm>
        </p:spPr>
        <p:txBody>
          <a:bodyPr/>
          <a:lstStyle/>
          <a:p>
            <a:pPr algn="just" eaLnBrk="1" hangingPunct="1"/>
            <a:r>
              <a:rPr lang="ko-KR" altLang="en-US" sz="2000" b="1" dirty="0"/>
              <a:t>합집합</a:t>
            </a:r>
            <a:r>
              <a:rPr lang="en-US" altLang="ko-KR" sz="2000" b="1" dirty="0"/>
              <a:t>(Union) </a:t>
            </a:r>
            <a:r>
              <a:rPr lang="ko-KR" altLang="en-US" sz="2000" b="1" dirty="0"/>
              <a:t>연산이 편향되게 이루어지는 경우 찾기</a:t>
            </a:r>
            <a:r>
              <a:rPr lang="en-US" altLang="ko-KR" sz="2000" b="1" dirty="0"/>
              <a:t>(Find) </a:t>
            </a:r>
            <a:r>
              <a:rPr lang="ko-KR" altLang="en-US" sz="2000" b="1" dirty="0"/>
              <a:t>함수가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비효율적으로 동작</a:t>
            </a:r>
            <a:r>
              <a:rPr lang="ko-KR" altLang="en-US" sz="2000" dirty="0"/>
              <a:t>한다</a:t>
            </a:r>
            <a:r>
              <a:rPr lang="en-US" altLang="ko-KR" sz="2000" dirty="0"/>
              <a:t>. </a:t>
            </a:r>
          </a:p>
          <a:p>
            <a:pPr algn="just" eaLnBrk="1" hangingPunct="1"/>
            <a:r>
              <a:rPr lang="ko-KR" altLang="en-US" sz="2000" dirty="0"/>
              <a:t>최악의 경우에는 찾기</a:t>
            </a:r>
            <a:r>
              <a:rPr lang="en-US" altLang="ko-KR" sz="2000" dirty="0"/>
              <a:t>(Find) </a:t>
            </a:r>
            <a:r>
              <a:rPr lang="ko-KR" altLang="en-US" sz="2000" dirty="0"/>
              <a:t>함수가 모든 노드를 다 확인하게 되어 시간 복잡도가 </a:t>
            </a:r>
            <a:r>
              <a:rPr lang="en-US" altLang="ko-KR" sz="2000" dirty="0"/>
              <a:t>O(V) </a:t>
            </a:r>
            <a:r>
              <a:rPr lang="ko-KR" altLang="en-US" sz="2000" dirty="0"/>
              <a:t>이다</a:t>
            </a:r>
            <a:r>
              <a:rPr lang="en-US" altLang="ko-KR" sz="2000" dirty="0"/>
              <a:t>. </a:t>
            </a:r>
          </a:p>
          <a:p>
            <a:pPr lvl="1" algn="just" eaLnBrk="1" hangingPunct="1"/>
            <a:r>
              <a:rPr lang="ko-KR" altLang="en-US" sz="1800" dirty="0"/>
              <a:t>다음과 같이 </a:t>
            </a:r>
            <a:r>
              <a:rPr lang="en-US" altLang="ko-KR" sz="1800" dirty="0"/>
              <a:t>{1, 2, 3, 4 5}</a:t>
            </a:r>
            <a:r>
              <a:rPr lang="ko-KR" altLang="en-US" sz="1800" dirty="0"/>
              <a:t>의 총 </a:t>
            </a:r>
            <a:r>
              <a:rPr lang="en-US" altLang="ko-KR" sz="1800" dirty="0"/>
              <a:t>5</a:t>
            </a:r>
            <a:r>
              <a:rPr lang="ko-KR" altLang="en-US" sz="1800" dirty="0"/>
              <a:t>개 원소가 존재하는 상황을 확인해 보자</a:t>
            </a:r>
            <a:r>
              <a:rPr lang="en-US" altLang="ko-KR" sz="1800" dirty="0"/>
              <a:t>.</a:t>
            </a:r>
          </a:p>
          <a:p>
            <a:pPr lvl="1" algn="just" eaLnBrk="1" hangingPunct="1"/>
            <a:r>
              <a:rPr lang="ko-KR" altLang="en-US" sz="1800" b="1" dirty="0"/>
              <a:t>수행된 연산들</a:t>
            </a:r>
            <a:r>
              <a:rPr lang="en-US" altLang="ko-KR" sz="1800" dirty="0"/>
              <a:t>: Union(4,5), Union(3,4), Union(2,3), Union(1,2)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0A61F68-2A47-9F40-5F01-16A8B08CAD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3789040"/>
            <a:ext cx="7668344" cy="2140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5524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C17A3-F980-9DA5-50EF-6CB516C40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49274433-C902-4FB1-CD71-F84A71FBD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15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892EDDF9-6349-5AEB-139A-1B91CC01A263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1520" y="274638"/>
            <a:ext cx="8640960" cy="868362"/>
          </a:xfrm>
        </p:spPr>
        <p:txBody>
          <a:bodyPr/>
          <a:lstStyle/>
          <a:p>
            <a:pPr eaLnBrk="1" hangingPunct="1"/>
            <a:r>
              <a:rPr lang="ko-KR" altLang="en-US" sz="2800" b="1" dirty="0" err="1">
                <a:solidFill>
                  <a:srgbClr val="0000FF"/>
                </a:solidFill>
              </a:rPr>
              <a:t>서로소</a:t>
            </a:r>
            <a:r>
              <a:rPr lang="ko-KR" altLang="en-US" sz="2800" b="1" dirty="0">
                <a:solidFill>
                  <a:srgbClr val="0000FF"/>
                </a:solidFill>
              </a:rPr>
              <a:t> 집합 자료구조</a:t>
            </a:r>
            <a:r>
              <a:rPr lang="en-US" altLang="ko-KR" sz="2800" b="1" dirty="0">
                <a:solidFill>
                  <a:srgbClr val="0000FF"/>
                </a:solidFill>
              </a:rPr>
              <a:t>: </a:t>
            </a:r>
            <a:r>
              <a:rPr lang="ko-KR" altLang="en-US" sz="2800" b="1" dirty="0">
                <a:solidFill>
                  <a:srgbClr val="0000FF"/>
                </a:solidFill>
              </a:rPr>
              <a:t>경로 </a:t>
            </a:r>
            <a:r>
              <a:rPr lang="ko-KR" altLang="en-US" sz="2800" b="1" dirty="0" smtClean="0">
                <a:solidFill>
                  <a:srgbClr val="0000FF"/>
                </a:solidFill>
              </a:rPr>
              <a:t>압축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9A55F052-2BA5-F02F-1E50-FC60D60F15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8"/>
            <a:ext cx="8640960" cy="4911725"/>
          </a:xfrm>
        </p:spPr>
        <p:txBody>
          <a:bodyPr/>
          <a:lstStyle/>
          <a:p>
            <a:pPr algn="just" eaLnBrk="1" hangingPunct="1"/>
            <a:r>
              <a:rPr lang="ko-KR" altLang="en-US" sz="2000" dirty="0"/>
              <a:t>찾기</a:t>
            </a:r>
            <a:r>
              <a:rPr lang="en-US" altLang="ko-KR" sz="2000" dirty="0"/>
              <a:t>(Find) </a:t>
            </a:r>
            <a:r>
              <a:rPr lang="ko-KR" altLang="en-US" sz="2000" dirty="0"/>
              <a:t>함수를 최적화하기 위한 방법으로 경로 압축</a:t>
            </a:r>
            <a:r>
              <a:rPr lang="en-US" altLang="ko-KR" sz="2000" dirty="0"/>
              <a:t>(Path Compression)</a:t>
            </a:r>
            <a:r>
              <a:rPr lang="ko-KR" altLang="en-US" sz="2000" dirty="0"/>
              <a:t>을</a:t>
            </a:r>
            <a:r>
              <a:rPr lang="en-US" altLang="ko-KR" sz="2000" dirty="0"/>
              <a:t> </a:t>
            </a:r>
            <a:r>
              <a:rPr lang="ko-KR" altLang="en-US" sz="2000" dirty="0"/>
              <a:t>이용한다</a:t>
            </a:r>
            <a:r>
              <a:rPr lang="en-US" altLang="ko-KR" sz="2000" dirty="0"/>
              <a:t>. </a:t>
            </a:r>
          </a:p>
          <a:p>
            <a:pPr lvl="1" algn="just" eaLnBrk="1" hangingPunct="1"/>
            <a:r>
              <a:rPr lang="ko-KR" altLang="en-US" sz="1800" dirty="0"/>
              <a:t>찾기</a:t>
            </a:r>
            <a:r>
              <a:rPr lang="en-US" altLang="ko-KR" sz="1800" dirty="0"/>
              <a:t>(Find) </a:t>
            </a:r>
            <a:r>
              <a:rPr lang="ko-KR" altLang="en-US" sz="1800" dirty="0"/>
              <a:t>함수를 재귀적으로 호출한 뒤에 </a:t>
            </a:r>
            <a:r>
              <a:rPr lang="ko-KR" altLang="en-US" sz="1800" b="1" dirty="0"/>
              <a:t>부모 테이블 값을 바로 갱신</a:t>
            </a:r>
            <a:r>
              <a:rPr lang="ko-KR" altLang="en-US" sz="1800" dirty="0"/>
              <a:t>한다</a:t>
            </a:r>
            <a:r>
              <a:rPr lang="en-US" altLang="ko-KR" sz="1800" dirty="0"/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138E4B8-07AF-AA02-5671-435B856931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2852936"/>
            <a:ext cx="7920880" cy="1932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6811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9B8CA-136E-00AD-32B6-3AAB9A014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3368AC9A-6A83-4455-A9F1-0A52315AA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16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2CDBF84A-D842-EFA4-A8B7-166B765C445D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1520" y="274638"/>
            <a:ext cx="8640960" cy="868362"/>
          </a:xfrm>
        </p:spPr>
        <p:txBody>
          <a:bodyPr/>
          <a:lstStyle/>
          <a:p>
            <a:pPr eaLnBrk="1" hangingPunct="1"/>
            <a:r>
              <a:rPr lang="ko-KR" altLang="en-US" sz="2800" b="1" dirty="0" err="1">
                <a:solidFill>
                  <a:srgbClr val="0000FF"/>
                </a:solidFill>
              </a:rPr>
              <a:t>서로소</a:t>
            </a:r>
            <a:r>
              <a:rPr lang="ko-KR" altLang="en-US" sz="2800" b="1" dirty="0">
                <a:solidFill>
                  <a:srgbClr val="0000FF"/>
                </a:solidFill>
              </a:rPr>
              <a:t> 집합 자료구조</a:t>
            </a:r>
            <a:r>
              <a:rPr lang="en-US" altLang="ko-KR" sz="2800" b="1" dirty="0">
                <a:solidFill>
                  <a:srgbClr val="0000FF"/>
                </a:solidFill>
              </a:rPr>
              <a:t>: </a:t>
            </a:r>
            <a:r>
              <a:rPr lang="ko-KR" altLang="en-US" sz="2800" b="1" dirty="0">
                <a:solidFill>
                  <a:srgbClr val="0000FF"/>
                </a:solidFill>
              </a:rPr>
              <a:t>경로 </a:t>
            </a:r>
            <a:r>
              <a:rPr lang="ko-KR" altLang="en-US" sz="2800" b="1" dirty="0" smtClean="0">
                <a:solidFill>
                  <a:srgbClr val="0000FF"/>
                </a:solidFill>
              </a:rPr>
              <a:t>압축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261DFEFF-D2DA-2188-D8C7-EAC800469D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8"/>
            <a:ext cx="8640960" cy="4911725"/>
          </a:xfrm>
        </p:spPr>
        <p:txBody>
          <a:bodyPr/>
          <a:lstStyle/>
          <a:p>
            <a:pPr algn="just" eaLnBrk="1" hangingPunct="1"/>
            <a:r>
              <a:rPr lang="ko-KR" altLang="en-US" sz="2000" dirty="0"/>
              <a:t>경로 압축 기법을 적용하면 각 노드에 대하여 </a:t>
            </a:r>
            <a:r>
              <a:rPr lang="ko-KR" altLang="en-US" sz="2000" u="sng" dirty="0"/>
              <a:t>찾기</a:t>
            </a:r>
            <a:r>
              <a:rPr lang="en-US" altLang="ko-KR" sz="2000" u="sng" dirty="0"/>
              <a:t>(Find) </a:t>
            </a:r>
            <a:r>
              <a:rPr lang="ko-KR" altLang="en-US" sz="2000" u="sng" dirty="0"/>
              <a:t>함수를</a:t>
            </a:r>
            <a:r>
              <a:rPr lang="en-US" altLang="ko-KR" sz="2000" u="sng" dirty="0"/>
              <a:t> </a:t>
            </a:r>
            <a:r>
              <a:rPr lang="ko-KR" altLang="en-US" sz="2000" u="sng" dirty="0"/>
              <a:t>호출한 이후에 해당 노드의 루트 노드가 바로 부모 노드</a:t>
            </a:r>
            <a:r>
              <a:rPr lang="ko-KR" altLang="en-US" sz="2000" dirty="0"/>
              <a:t>가 된다</a:t>
            </a:r>
            <a:r>
              <a:rPr lang="en-US" altLang="ko-KR" sz="2000" dirty="0"/>
              <a:t>.</a:t>
            </a:r>
          </a:p>
          <a:p>
            <a:pPr algn="just" eaLnBrk="1" hangingPunct="1"/>
            <a:r>
              <a:rPr lang="ko-KR" altLang="en-US" sz="2000" dirty="0"/>
              <a:t>동일한 예시에 대해서 </a:t>
            </a:r>
            <a:r>
              <a:rPr lang="ko-KR" altLang="en-US" sz="2000" b="1" dirty="0"/>
              <a:t>모든 합집합</a:t>
            </a:r>
            <a:r>
              <a:rPr lang="en-US" altLang="ko-KR" sz="2000" b="1" dirty="0"/>
              <a:t>(Union) </a:t>
            </a:r>
            <a:r>
              <a:rPr lang="ko-KR" altLang="en-US" sz="2000" b="1" dirty="0"/>
              <a:t>함수를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처리한 후 각 원소에 대하여 찾기</a:t>
            </a:r>
            <a:r>
              <a:rPr lang="en-US" altLang="ko-KR" sz="2000" b="1" dirty="0"/>
              <a:t>(Find) </a:t>
            </a:r>
            <a:r>
              <a:rPr lang="ko-KR" altLang="en-US" sz="2000" b="1" dirty="0"/>
              <a:t>함수를 수행하면 다음과 같이 부모 테이블이 갱신</a:t>
            </a:r>
            <a:endParaRPr lang="en-US" altLang="ko-KR" sz="2000" b="1" dirty="0"/>
          </a:p>
          <a:p>
            <a:pPr algn="just" eaLnBrk="1" hangingPunct="1"/>
            <a:r>
              <a:rPr lang="ko-KR" altLang="en-US" sz="2000" dirty="0"/>
              <a:t>기본적인 방법에 비하여 시간 복잡도가 개선된다</a:t>
            </a:r>
            <a:r>
              <a:rPr lang="en-US" altLang="ko-KR" sz="2000" dirty="0"/>
              <a:t>.</a:t>
            </a:r>
            <a:endParaRPr lang="en-US" altLang="ko-KR" sz="18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8F4C783-A3E6-F499-606D-5EA00E4C6E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3068959"/>
            <a:ext cx="7802178" cy="3521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0084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9919F-EEA1-C471-1178-9D0E94267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4289989C-2D63-F9F4-72EF-022C19965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17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FF703B72-4D54-E6B3-6C4B-0A36C8A5C46E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1520" y="274638"/>
            <a:ext cx="8712968" cy="868362"/>
          </a:xfrm>
        </p:spPr>
        <p:txBody>
          <a:bodyPr/>
          <a:lstStyle/>
          <a:p>
            <a:pPr eaLnBrk="1" hangingPunct="1"/>
            <a:r>
              <a:rPr lang="ko-KR" altLang="en-US" sz="2800" b="1" dirty="0" err="1">
                <a:solidFill>
                  <a:srgbClr val="0000FF"/>
                </a:solidFill>
              </a:rPr>
              <a:t>서로소</a:t>
            </a:r>
            <a:r>
              <a:rPr lang="ko-KR" altLang="en-US" sz="2800" b="1" dirty="0">
                <a:solidFill>
                  <a:srgbClr val="0000FF"/>
                </a:solidFill>
              </a:rPr>
              <a:t> 집합 자료구조</a:t>
            </a:r>
            <a:r>
              <a:rPr lang="en-US" altLang="ko-KR" sz="2800" b="1" dirty="0">
                <a:solidFill>
                  <a:srgbClr val="0000FF"/>
                </a:solidFill>
              </a:rPr>
              <a:t>: </a:t>
            </a:r>
            <a:r>
              <a:rPr lang="ko-KR" altLang="en-US" sz="2800" b="1" dirty="0">
                <a:solidFill>
                  <a:srgbClr val="0000FF"/>
                </a:solidFill>
              </a:rPr>
              <a:t>경로 압축 </a:t>
            </a:r>
            <a:r>
              <a:rPr lang="en-US" altLang="ko-KR" sz="2800" b="1" dirty="0">
                <a:solidFill>
                  <a:srgbClr val="0000FF"/>
                </a:solidFill>
              </a:rPr>
              <a:t>(Python)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E1D4744-C98C-0C23-237A-B4F5372FB6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053" y="1052736"/>
            <a:ext cx="8589923" cy="5305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4899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F665B-767F-AF7B-B4A1-92FFD0F91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7F835A06-6AA9-F6CF-E592-A184C5F54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18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1BD10B27-7EE2-EF70-48F1-43FE8E550D7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1520" y="274638"/>
            <a:ext cx="8640960" cy="868362"/>
          </a:xfrm>
        </p:spPr>
        <p:txBody>
          <a:bodyPr/>
          <a:lstStyle/>
          <a:p>
            <a:pPr eaLnBrk="1" hangingPunct="1"/>
            <a:r>
              <a:rPr lang="ko-KR" altLang="en-US" sz="2800" b="1" dirty="0" err="1">
                <a:solidFill>
                  <a:srgbClr val="0000FF"/>
                </a:solidFill>
              </a:rPr>
              <a:t>서로소</a:t>
            </a:r>
            <a:r>
              <a:rPr lang="ko-KR" altLang="en-US" sz="2800" b="1" dirty="0">
                <a:solidFill>
                  <a:srgbClr val="0000FF"/>
                </a:solidFill>
              </a:rPr>
              <a:t> 집합을 활용한 사이클 판별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91A04616-F945-C67C-1A6D-D6C229AF0E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8"/>
            <a:ext cx="8640960" cy="4911725"/>
          </a:xfrm>
        </p:spPr>
        <p:txBody>
          <a:bodyPr/>
          <a:lstStyle/>
          <a:p>
            <a:pPr algn="just" eaLnBrk="1" hangingPunct="1"/>
            <a:r>
              <a:rPr lang="ko-KR" altLang="en-US" sz="2000" dirty="0" err="1"/>
              <a:t>서로소</a:t>
            </a:r>
            <a:r>
              <a:rPr lang="ko-KR" altLang="en-US" sz="2000" dirty="0"/>
              <a:t> 집합은 </a:t>
            </a:r>
            <a:r>
              <a:rPr lang="ko-KR" altLang="en-US" sz="2000" b="1" dirty="0" err="1"/>
              <a:t>무방향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그래프 내에서의 사이클을 판별</a:t>
            </a:r>
            <a:r>
              <a:rPr lang="ko-KR" altLang="en-US" sz="2000" dirty="0"/>
              <a:t>할 때 사용된다</a:t>
            </a:r>
            <a:r>
              <a:rPr lang="en-US" altLang="ko-KR" sz="2000" dirty="0"/>
              <a:t>.</a:t>
            </a:r>
          </a:p>
          <a:p>
            <a:pPr lvl="1" algn="just" eaLnBrk="1" hangingPunct="1"/>
            <a:r>
              <a:rPr lang="ko-KR" altLang="en-US" sz="1800" dirty="0"/>
              <a:t>참고로 방향 그래프에서의 사이클 여부는 </a:t>
            </a:r>
            <a:r>
              <a:rPr lang="en-US" altLang="ko-KR" sz="1800" dirty="0"/>
              <a:t>DFS</a:t>
            </a:r>
            <a:r>
              <a:rPr lang="ko-KR" altLang="en-US" sz="1800" dirty="0"/>
              <a:t>를 이용하여 판별한다</a:t>
            </a:r>
            <a:r>
              <a:rPr lang="en-US" altLang="ko-KR" sz="1800" dirty="0"/>
              <a:t>.</a:t>
            </a:r>
          </a:p>
          <a:p>
            <a:pPr algn="just" eaLnBrk="1" hangingPunct="1"/>
            <a:r>
              <a:rPr lang="ko-KR" altLang="en-US" sz="2000" b="1" dirty="0"/>
              <a:t>사이클 판별 알고리즘</a:t>
            </a:r>
            <a:r>
              <a:rPr lang="ko-KR" altLang="en-US" sz="2000" dirty="0"/>
              <a:t>은 다음과 가다</a:t>
            </a:r>
            <a:r>
              <a:rPr lang="en-US" altLang="ko-KR" sz="2000" dirty="0"/>
              <a:t>. </a:t>
            </a:r>
          </a:p>
          <a:p>
            <a:pPr marL="800100" lvl="1" indent="-342900" algn="just" eaLnBrk="1" hangingPunct="1">
              <a:buFont typeface="+mj-lt"/>
              <a:buAutoNum type="arabicPeriod"/>
            </a:pPr>
            <a:r>
              <a:rPr lang="ko-KR" altLang="en-US" sz="1800" dirty="0"/>
              <a:t>각 간선을 하나씩 확인하며 두 노드의 루트 노드를 확인한다</a:t>
            </a:r>
            <a:r>
              <a:rPr lang="en-US" altLang="ko-KR" sz="1800" dirty="0"/>
              <a:t>.</a:t>
            </a:r>
          </a:p>
          <a:p>
            <a:pPr lvl="2" algn="just" eaLnBrk="1" hangingPunct="1"/>
            <a:r>
              <a:rPr lang="ko-KR" altLang="en-US" sz="1600" dirty="0"/>
              <a:t>루트 노드가 서로 다르다면 두 노드에 대하여 합집합</a:t>
            </a:r>
            <a:r>
              <a:rPr lang="en-US" altLang="ko-KR" sz="1600" dirty="0"/>
              <a:t>(Union) </a:t>
            </a:r>
            <a:r>
              <a:rPr lang="ko-KR" altLang="en-US" sz="1600" dirty="0"/>
              <a:t>연산을 수행</a:t>
            </a:r>
            <a:endParaRPr lang="en-US" altLang="ko-KR" sz="1600" dirty="0"/>
          </a:p>
          <a:p>
            <a:pPr lvl="2" algn="just" eaLnBrk="1" hangingPunct="1"/>
            <a:r>
              <a:rPr lang="ko-KR" altLang="en-US" sz="1600" dirty="0"/>
              <a:t>루트 노드가 서로 같다면 사이클</a:t>
            </a:r>
            <a:r>
              <a:rPr lang="en-US" altLang="ko-KR" sz="1600" dirty="0"/>
              <a:t>(Cycle)</a:t>
            </a:r>
            <a:r>
              <a:rPr lang="ko-KR" altLang="en-US" sz="1600" dirty="0"/>
              <a:t>이 발생한 것이다</a:t>
            </a:r>
            <a:r>
              <a:rPr lang="en-US" altLang="ko-KR" sz="1600" dirty="0"/>
              <a:t>.</a:t>
            </a:r>
          </a:p>
          <a:p>
            <a:pPr marL="800100" lvl="1" indent="-342900" algn="just" eaLnBrk="1" hangingPunct="1">
              <a:buFont typeface="+mj-lt"/>
              <a:buAutoNum type="arabicPeriod"/>
            </a:pPr>
            <a:r>
              <a:rPr lang="ko-KR" altLang="en-US" sz="1800" dirty="0"/>
              <a:t>그래프에 포함되어 있는 모든 간선에 대하여 </a:t>
            </a:r>
            <a:r>
              <a:rPr lang="en-US" altLang="ko-KR" sz="1800" dirty="0"/>
              <a:t>1</a:t>
            </a:r>
            <a:r>
              <a:rPr lang="ko-KR" altLang="en-US" sz="1800" dirty="0"/>
              <a:t>번 과정을 반복한다</a:t>
            </a:r>
            <a:r>
              <a:rPr lang="en-US" altLang="ko-KR" sz="1800" dirty="0"/>
              <a:t>.</a:t>
            </a:r>
          </a:p>
          <a:p>
            <a:pPr lvl="1" algn="just" eaLnBrk="1" hangingPunct="1"/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31973373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E9A86-AC5A-92B7-C644-663FBAB83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E7C82FDE-603F-7ADA-89A7-6B28BB956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19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353C0F17-FBBF-6C48-43A8-BCFC4408828D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1520" y="274638"/>
            <a:ext cx="8640960" cy="868362"/>
          </a:xfrm>
        </p:spPr>
        <p:txBody>
          <a:bodyPr/>
          <a:lstStyle/>
          <a:p>
            <a:pPr eaLnBrk="1" hangingPunct="1"/>
            <a:r>
              <a:rPr lang="ko-KR" altLang="en-US" sz="2400" b="1" dirty="0" err="1">
                <a:solidFill>
                  <a:srgbClr val="0000FF"/>
                </a:solidFill>
              </a:rPr>
              <a:t>서로소</a:t>
            </a:r>
            <a:r>
              <a:rPr lang="ko-KR" altLang="en-US" sz="2400" b="1" dirty="0">
                <a:solidFill>
                  <a:srgbClr val="0000FF"/>
                </a:solidFill>
              </a:rPr>
              <a:t> 집합을 활용한 사이클 판별</a:t>
            </a:r>
            <a:r>
              <a:rPr lang="en-US" altLang="ko-KR" sz="2400" b="1" dirty="0">
                <a:solidFill>
                  <a:srgbClr val="0000FF"/>
                </a:solidFill>
              </a:rPr>
              <a:t>: </a:t>
            </a:r>
            <a:r>
              <a:rPr lang="ko-KR" altLang="en-US" sz="2400" b="1" dirty="0">
                <a:solidFill>
                  <a:srgbClr val="0000FF"/>
                </a:solidFill>
              </a:rPr>
              <a:t>동작 과정 살펴보기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6AB2747-7E5A-E76C-B4EE-A593F46189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1362334"/>
            <a:ext cx="8554508" cy="3866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9844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333E9-47E5-A843-E945-68E003CF0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B6951EF7-A42C-27BE-8D64-3E1A99B8A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20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D5C7ED87-885B-44A3-DDE5-876347715AA3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1520" y="274638"/>
            <a:ext cx="8640960" cy="868362"/>
          </a:xfrm>
        </p:spPr>
        <p:txBody>
          <a:bodyPr/>
          <a:lstStyle/>
          <a:p>
            <a:pPr eaLnBrk="1" hangingPunct="1"/>
            <a:r>
              <a:rPr lang="ko-KR" altLang="en-US" sz="2400" b="1" dirty="0" err="1">
                <a:solidFill>
                  <a:srgbClr val="0000FF"/>
                </a:solidFill>
              </a:rPr>
              <a:t>서로소</a:t>
            </a:r>
            <a:r>
              <a:rPr lang="ko-KR" altLang="en-US" sz="2400" b="1" dirty="0">
                <a:solidFill>
                  <a:srgbClr val="0000FF"/>
                </a:solidFill>
              </a:rPr>
              <a:t> 집합을 활용한 사이클 판별</a:t>
            </a:r>
            <a:r>
              <a:rPr lang="en-US" altLang="ko-KR" sz="2400" b="1" dirty="0">
                <a:solidFill>
                  <a:srgbClr val="0000FF"/>
                </a:solidFill>
              </a:rPr>
              <a:t>: </a:t>
            </a:r>
            <a:r>
              <a:rPr lang="ko-KR" altLang="en-US" sz="2400" b="1" dirty="0">
                <a:solidFill>
                  <a:srgbClr val="0000FF"/>
                </a:solidFill>
              </a:rPr>
              <a:t>동작 과정 살펴보기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AD547AC-1476-D875-1123-A1BDF45C2C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1346926"/>
            <a:ext cx="8525036" cy="3882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8108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E6884-D05F-7C93-4145-ACC80D6A0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A24AC37D-F2C2-357B-52E5-0D0A590A9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21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BC153EAC-40D1-F718-479C-CAEE92A24D5E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1520" y="274638"/>
            <a:ext cx="8640960" cy="868362"/>
          </a:xfrm>
        </p:spPr>
        <p:txBody>
          <a:bodyPr/>
          <a:lstStyle/>
          <a:p>
            <a:pPr eaLnBrk="1" hangingPunct="1"/>
            <a:r>
              <a:rPr lang="ko-KR" altLang="en-US" sz="2400" b="1" dirty="0" err="1">
                <a:solidFill>
                  <a:srgbClr val="0000FF"/>
                </a:solidFill>
              </a:rPr>
              <a:t>서로소</a:t>
            </a:r>
            <a:r>
              <a:rPr lang="ko-KR" altLang="en-US" sz="2400" b="1" dirty="0">
                <a:solidFill>
                  <a:srgbClr val="0000FF"/>
                </a:solidFill>
              </a:rPr>
              <a:t> 집합을 활용한 사이클 판별</a:t>
            </a:r>
            <a:r>
              <a:rPr lang="en-US" altLang="ko-KR" sz="2400" b="1" dirty="0">
                <a:solidFill>
                  <a:srgbClr val="0000FF"/>
                </a:solidFill>
              </a:rPr>
              <a:t>: </a:t>
            </a:r>
            <a:r>
              <a:rPr lang="ko-KR" altLang="en-US" sz="2400" b="1" dirty="0">
                <a:solidFill>
                  <a:srgbClr val="0000FF"/>
                </a:solidFill>
              </a:rPr>
              <a:t>동작 과정 살펴보기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426322C-EB6D-7200-FF69-4FFEE0CB59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1364953"/>
            <a:ext cx="8559562" cy="3864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0422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69098-4E4C-EED6-617E-CAA043D02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AA4FEAF3-2543-D304-4438-4C2D3B2D3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22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965BBCB9-9E2A-F9CC-16C7-79D1EA989B1A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1520" y="274638"/>
            <a:ext cx="8640960" cy="868362"/>
          </a:xfrm>
        </p:spPr>
        <p:txBody>
          <a:bodyPr/>
          <a:lstStyle/>
          <a:p>
            <a:pPr eaLnBrk="1" hangingPunct="1"/>
            <a:r>
              <a:rPr lang="ko-KR" altLang="en-US" sz="2400" b="1" dirty="0" err="1">
                <a:solidFill>
                  <a:srgbClr val="0000FF"/>
                </a:solidFill>
              </a:rPr>
              <a:t>서로소</a:t>
            </a:r>
            <a:r>
              <a:rPr lang="ko-KR" altLang="en-US" sz="2400" b="1" dirty="0">
                <a:solidFill>
                  <a:srgbClr val="0000FF"/>
                </a:solidFill>
              </a:rPr>
              <a:t> 집합을 활용한 사이클 판별</a:t>
            </a:r>
            <a:r>
              <a:rPr lang="en-US" altLang="ko-KR" sz="2400" b="1" dirty="0">
                <a:solidFill>
                  <a:srgbClr val="0000FF"/>
                </a:solidFill>
              </a:rPr>
              <a:t>: </a:t>
            </a:r>
            <a:r>
              <a:rPr lang="ko-KR" altLang="en-US" sz="2400" b="1" dirty="0">
                <a:solidFill>
                  <a:srgbClr val="0000FF"/>
                </a:solidFill>
              </a:rPr>
              <a:t>동작 과정 살펴보기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7EA1479-F557-E444-C8FA-C3E5F02E34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1347952"/>
            <a:ext cx="8532440" cy="3883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7354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188E6-98C7-1FF3-A89C-492BC3EBF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ED24930A-13B0-2C99-62DA-FE7E232D3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23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623A9C6F-5344-9AA6-C2C8-AD2696D858F2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1520" y="274638"/>
            <a:ext cx="8640960" cy="868362"/>
          </a:xfrm>
        </p:spPr>
        <p:txBody>
          <a:bodyPr/>
          <a:lstStyle/>
          <a:p>
            <a:pPr eaLnBrk="1" hangingPunct="1"/>
            <a:r>
              <a:rPr lang="ko-KR" altLang="en-US" sz="2400" b="1" dirty="0" err="1">
                <a:solidFill>
                  <a:srgbClr val="0000FF"/>
                </a:solidFill>
              </a:rPr>
              <a:t>서로소</a:t>
            </a:r>
            <a:r>
              <a:rPr lang="ko-KR" altLang="en-US" sz="2400" b="1" dirty="0">
                <a:solidFill>
                  <a:srgbClr val="0000FF"/>
                </a:solidFill>
              </a:rPr>
              <a:t> 집합을 활용한 사이클 판별 </a:t>
            </a:r>
            <a:r>
              <a:rPr lang="en-US" altLang="ko-KR" sz="2400" b="1" dirty="0">
                <a:solidFill>
                  <a:srgbClr val="0000FF"/>
                </a:solidFill>
              </a:rPr>
              <a:t>(Python)</a:t>
            </a:r>
            <a:endParaRPr lang="ko-KR" altLang="en-US" sz="2400" b="1" dirty="0">
              <a:solidFill>
                <a:srgbClr val="0000FF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2B0C33F-E4D6-901E-AAD0-0C779C104F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980728"/>
            <a:ext cx="8532440" cy="5328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9316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B4F53-FB92-B805-AE10-96D287F6A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15F8CF77-10A2-E93A-F3A9-4A9321465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24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960469FB-3679-C17D-6DF5-90994F4DB0FB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1520" y="274638"/>
            <a:ext cx="8640960" cy="868362"/>
          </a:xfrm>
        </p:spPr>
        <p:txBody>
          <a:bodyPr/>
          <a:lstStyle/>
          <a:p>
            <a:pPr eaLnBrk="1" hangingPunct="1"/>
            <a:r>
              <a:rPr lang="ko-KR" altLang="en-US" sz="2400" b="1" dirty="0" err="1">
                <a:solidFill>
                  <a:srgbClr val="0000FF"/>
                </a:solidFill>
              </a:rPr>
              <a:t>서로소</a:t>
            </a:r>
            <a:r>
              <a:rPr lang="ko-KR" altLang="en-US" sz="2400" b="1" dirty="0">
                <a:solidFill>
                  <a:srgbClr val="0000FF"/>
                </a:solidFill>
              </a:rPr>
              <a:t> 집합을 활용한 사이클 판별 </a:t>
            </a:r>
            <a:r>
              <a:rPr lang="en-US" altLang="ko-KR" sz="2400" b="1" dirty="0">
                <a:solidFill>
                  <a:srgbClr val="0000FF"/>
                </a:solidFill>
              </a:rPr>
              <a:t>(C++)</a:t>
            </a:r>
            <a:endParaRPr lang="ko-KR" altLang="en-US" sz="2400" b="1" dirty="0">
              <a:solidFill>
                <a:srgbClr val="0000FF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FB38192-4D48-F972-9E7A-3FB7BB0081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0440" y="936104"/>
            <a:ext cx="6083119" cy="5733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6376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7E2AA-4A8F-E38A-E468-EEEF81FED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B461B0F8-FBE1-B004-E4C2-D46B88258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25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9A7E6C3B-2724-F596-BF65-A6CB370B3817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1520" y="274638"/>
            <a:ext cx="8640960" cy="868362"/>
          </a:xfrm>
        </p:spPr>
        <p:txBody>
          <a:bodyPr/>
          <a:lstStyle/>
          <a:p>
            <a:pPr eaLnBrk="1" hangingPunct="1"/>
            <a:r>
              <a:rPr lang="ko-KR" altLang="en-US" sz="2800" b="1" dirty="0">
                <a:solidFill>
                  <a:srgbClr val="0000FF"/>
                </a:solidFill>
              </a:rPr>
              <a:t>신장 트리 </a:t>
            </a:r>
            <a:r>
              <a:rPr lang="en-US" altLang="ko-KR" sz="2800" b="1" dirty="0">
                <a:solidFill>
                  <a:srgbClr val="0000FF"/>
                </a:solidFill>
              </a:rPr>
              <a:t>(Spanning Tree)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7E328577-C446-E46F-2BFE-3B8F0A9ED4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8"/>
            <a:ext cx="8640960" cy="4911725"/>
          </a:xfrm>
        </p:spPr>
        <p:txBody>
          <a:bodyPr/>
          <a:lstStyle/>
          <a:p>
            <a:pPr algn="just" eaLnBrk="1" hangingPunct="1"/>
            <a:r>
              <a:rPr lang="ko-KR" altLang="en-US" sz="2000" b="1" dirty="0"/>
              <a:t>그래프에서 모든 노드를 포함하면서 사이클이 존재하지 않는 부분 그래프 </a:t>
            </a:r>
            <a:endParaRPr lang="en-US" altLang="ko-KR" sz="2000" b="1" dirty="0"/>
          </a:p>
          <a:p>
            <a:pPr algn="just" eaLnBrk="1" hangingPunct="1"/>
            <a:r>
              <a:rPr lang="ko-KR" altLang="en-US" sz="2000" b="1" dirty="0"/>
              <a:t>간선의 개수 </a:t>
            </a:r>
            <a:r>
              <a:rPr lang="en-US" altLang="ko-KR" sz="2000" b="1" dirty="0"/>
              <a:t>= </a:t>
            </a:r>
            <a:r>
              <a:rPr lang="ko-KR" altLang="en-US" sz="2000" b="1" dirty="0"/>
              <a:t>노드 개수</a:t>
            </a:r>
            <a:r>
              <a:rPr lang="en-US" altLang="ko-KR" sz="2000" b="1" dirty="0"/>
              <a:t>(N) - 1</a:t>
            </a:r>
          </a:p>
          <a:p>
            <a:pPr algn="just" eaLnBrk="1" hangingPunct="1"/>
            <a:r>
              <a:rPr lang="ko-KR" altLang="en-US" sz="2000" dirty="0"/>
              <a:t>모든 노드가 포함되어 서로 연결되면서 사이클이 존재하지 않는다는 조건은 </a:t>
            </a:r>
            <a:r>
              <a:rPr lang="ko-KR" altLang="en-US" sz="2000" b="1" dirty="0"/>
              <a:t>트리</a:t>
            </a:r>
            <a:r>
              <a:rPr lang="ko-KR" altLang="en-US" sz="2000" dirty="0"/>
              <a:t>의 조건이기도 함</a:t>
            </a:r>
            <a:endParaRPr lang="en-US" altLang="ko-KR" sz="18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0052004-0668-D5EA-E8DE-31B6812B2E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848" y="3068960"/>
            <a:ext cx="8491632" cy="2016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3669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CBD1B-B69E-ACAC-C283-D534B264D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00445421-1C1D-5AA0-4038-926CA09EC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26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CD272F73-5378-81D4-195C-7E80DE68F6E1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1520" y="274638"/>
            <a:ext cx="8640960" cy="868362"/>
          </a:xfrm>
        </p:spPr>
        <p:txBody>
          <a:bodyPr/>
          <a:lstStyle/>
          <a:p>
            <a:pPr eaLnBrk="1" hangingPunct="1"/>
            <a:r>
              <a:rPr lang="ko-KR" altLang="en-US" sz="2800" b="1" dirty="0">
                <a:solidFill>
                  <a:srgbClr val="0000FF"/>
                </a:solidFill>
              </a:rPr>
              <a:t>최소 신장 트리 </a:t>
            </a:r>
            <a:r>
              <a:rPr lang="en-US" altLang="ko-KR" sz="2800" b="1" dirty="0">
                <a:solidFill>
                  <a:srgbClr val="0000FF"/>
                </a:solidFill>
              </a:rPr>
              <a:t>(Minimum Spanning Tree)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EC565304-EE79-809D-9A4B-4727365202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8"/>
            <a:ext cx="8640960" cy="4911725"/>
          </a:xfrm>
        </p:spPr>
        <p:txBody>
          <a:bodyPr/>
          <a:lstStyle/>
          <a:p>
            <a:pPr algn="just" eaLnBrk="1" hangingPunct="1"/>
            <a:r>
              <a:rPr lang="ko-KR" altLang="en-US" sz="2000" b="1" dirty="0"/>
              <a:t>최소한의 비용으로 구성되는 신장 트리를 찾아야 할 때 </a:t>
            </a:r>
            <a:r>
              <a:rPr lang="ko-KR" altLang="en-US" sz="2000" dirty="0"/>
              <a:t>어떻게 해야 할까요</a:t>
            </a:r>
            <a:r>
              <a:rPr lang="en-US" altLang="ko-KR" sz="2000" dirty="0"/>
              <a:t>? </a:t>
            </a:r>
          </a:p>
          <a:p>
            <a:pPr algn="just" eaLnBrk="1" hangingPunct="1"/>
            <a:r>
              <a:rPr lang="ko-KR" altLang="en-US" sz="2000" dirty="0"/>
              <a:t>예를 들어 </a:t>
            </a:r>
            <a:r>
              <a:rPr lang="en-US" altLang="ko-KR" sz="2000" dirty="0"/>
              <a:t>N</a:t>
            </a:r>
            <a:r>
              <a:rPr lang="ko-KR" altLang="en-US" sz="2000" dirty="0"/>
              <a:t>개의 도시가 존재하는 상황에서 두 도시 사이에 도로를 놓아 전체 도시가 서로 연결될 수 있게 도로를 설치하는 경우를 생각해 보자</a:t>
            </a:r>
            <a:r>
              <a:rPr lang="en-US" altLang="ko-KR" sz="2000" dirty="0"/>
              <a:t>.</a:t>
            </a:r>
          </a:p>
          <a:p>
            <a:pPr algn="just" eaLnBrk="1" hangingPunct="1"/>
            <a:r>
              <a:rPr lang="ko-KR" altLang="en-US" sz="2000" dirty="0"/>
              <a:t>두 도시 </a:t>
            </a:r>
            <a:r>
              <a:rPr lang="en-US" altLang="ko-KR" sz="2000" dirty="0"/>
              <a:t>A, B</a:t>
            </a:r>
            <a:r>
              <a:rPr lang="ko-KR" altLang="en-US" sz="2000" dirty="0"/>
              <a:t>를 선택했을 때 </a:t>
            </a:r>
            <a:r>
              <a:rPr lang="en-US" altLang="ko-KR" sz="2000" dirty="0"/>
              <a:t>A</a:t>
            </a:r>
            <a:r>
              <a:rPr lang="ko-KR" altLang="en-US" sz="2000" dirty="0"/>
              <a:t>에서 </a:t>
            </a:r>
            <a:r>
              <a:rPr lang="en-US" altLang="ko-KR" sz="2000" dirty="0"/>
              <a:t>B</a:t>
            </a:r>
            <a:r>
              <a:rPr lang="ko-KR" altLang="en-US" sz="2000" dirty="0"/>
              <a:t>로 이동하는 경로가 반드시 존재하도록 도로를 설치한다</a:t>
            </a:r>
            <a:r>
              <a:rPr lang="en-US" altLang="ko-KR" sz="2000" dirty="0"/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FB6C938-D811-EB70-E1F2-254054F4C6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3753040"/>
            <a:ext cx="8316416" cy="2052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9347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8C543-DE18-62C9-6AD9-DD3291B61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7D961D5B-581A-50DB-65EF-9EAA8E61D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27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01356448-2A49-3920-4F09-C18437383B3B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1520" y="274638"/>
            <a:ext cx="8640960" cy="868362"/>
          </a:xfrm>
        </p:spPr>
        <p:txBody>
          <a:bodyPr/>
          <a:lstStyle/>
          <a:p>
            <a:pPr eaLnBrk="1" hangingPunct="1"/>
            <a:r>
              <a:rPr lang="ko-KR" altLang="en-US" sz="2800" b="1" dirty="0" err="1">
                <a:solidFill>
                  <a:srgbClr val="0000FF"/>
                </a:solidFill>
              </a:rPr>
              <a:t>크루스칼</a:t>
            </a:r>
            <a:r>
              <a:rPr lang="ko-KR" altLang="en-US" sz="2800" b="1" dirty="0">
                <a:solidFill>
                  <a:srgbClr val="0000FF"/>
                </a:solidFill>
              </a:rPr>
              <a:t> 알고리즘 </a:t>
            </a:r>
            <a:r>
              <a:rPr lang="en-US" altLang="ko-KR" sz="2800" b="1" dirty="0">
                <a:solidFill>
                  <a:srgbClr val="0000FF"/>
                </a:solidFill>
              </a:rPr>
              <a:t>(Kruskal</a:t>
            </a:r>
            <a:r>
              <a:rPr lang="ko-KR" altLang="en-US" sz="2800" b="1" dirty="0">
                <a:solidFill>
                  <a:srgbClr val="0000FF"/>
                </a:solidFill>
              </a:rPr>
              <a:t> </a:t>
            </a:r>
            <a:r>
              <a:rPr lang="en-US" altLang="ko-KR" sz="2800" b="1" dirty="0">
                <a:solidFill>
                  <a:srgbClr val="0000FF"/>
                </a:solidFill>
              </a:rPr>
              <a:t>Algorithm)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EB636AE6-CB67-DD6E-2E15-184E2B7D8B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8"/>
            <a:ext cx="8640960" cy="4911725"/>
          </a:xfrm>
        </p:spPr>
        <p:txBody>
          <a:bodyPr/>
          <a:lstStyle/>
          <a:p>
            <a:pPr algn="just" eaLnBrk="1" hangingPunct="1"/>
            <a:r>
              <a:rPr lang="ko-KR" altLang="en-US" sz="2000" dirty="0"/>
              <a:t>대표적인</a:t>
            </a:r>
            <a:r>
              <a:rPr lang="en-US" altLang="ko-KR" sz="2000" dirty="0"/>
              <a:t> </a:t>
            </a:r>
            <a:r>
              <a:rPr lang="ko-KR" altLang="en-US" sz="2000" b="1" dirty="0"/>
              <a:t>최소 신장 트리 알고리즘</a:t>
            </a:r>
            <a:endParaRPr lang="en-US" altLang="ko-KR" sz="2000" b="1" dirty="0"/>
          </a:p>
          <a:p>
            <a:pPr algn="just" eaLnBrk="1" hangingPunct="1"/>
            <a:r>
              <a:rPr lang="ko-KR" altLang="en-US" sz="2000" dirty="0" err="1"/>
              <a:t>그리디</a:t>
            </a:r>
            <a:r>
              <a:rPr lang="ko-KR" altLang="en-US" sz="2000" dirty="0"/>
              <a:t> 알고리즘</a:t>
            </a:r>
            <a:endParaRPr lang="en-US" altLang="ko-KR" sz="2000" dirty="0"/>
          </a:p>
          <a:p>
            <a:pPr algn="just" eaLnBrk="1" hangingPunct="1"/>
            <a:r>
              <a:rPr lang="ko-KR" altLang="en-US" sz="2000" dirty="0"/>
              <a:t>구체적인 동작 과정</a:t>
            </a:r>
            <a:endParaRPr lang="en-US" altLang="ko-KR" sz="2000" dirty="0"/>
          </a:p>
          <a:p>
            <a:pPr marL="457200" indent="-457200" algn="just" eaLnBrk="1" hangingPunct="1">
              <a:buFont typeface="+mj-lt"/>
              <a:buAutoNum type="arabicPeriod"/>
            </a:pPr>
            <a:r>
              <a:rPr lang="ko-KR" altLang="en-US" sz="2000" dirty="0"/>
              <a:t>간선 데이터를 비용에 따라 </a:t>
            </a:r>
            <a:r>
              <a:rPr lang="ko-KR" altLang="en-US" sz="2000" b="1" dirty="0"/>
              <a:t>오름차순으로 정렬</a:t>
            </a:r>
            <a:r>
              <a:rPr lang="ko-KR" altLang="en-US" sz="2000" dirty="0"/>
              <a:t>한다</a:t>
            </a:r>
            <a:endParaRPr lang="en-US" altLang="ko-KR" sz="2000" dirty="0"/>
          </a:p>
          <a:p>
            <a:pPr marL="457200" indent="-457200" algn="just" eaLnBrk="1" hangingPunct="1">
              <a:buFont typeface="+mj-lt"/>
              <a:buAutoNum type="arabicPeriod"/>
            </a:pPr>
            <a:r>
              <a:rPr lang="ko-KR" altLang="en-US" sz="2000" dirty="0"/>
              <a:t>간선을 하나씩 확인하며 </a:t>
            </a:r>
            <a:r>
              <a:rPr lang="ko-KR" altLang="en-US" sz="2000" b="1" dirty="0"/>
              <a:t>현재의 간선이 사이클이 발생하는지 확인</a:t>
            </a:r>
            <a:endParaRPr lang="en-US" altLang="ko-KR" sz="2000" b="1" dirty="0"/>
          </a:p>
          <a:p>
            <a:pPr marL="800100" lvl="1" indent="-342900" algn="just" eaLnBrk="1" hangingPunct="1">
              <a:buFont typeface="+mj-lt"/>
              <a:buAutoNum type="arabicPeriod"/>
            </a:pPr>
            <a:r>
              <a:rPr lang="ko-KR" altLang="en-US" sz="1800" dirty="0"/>
              <a:t>사이클이 발생하지 않는 경우 최소 신장 트리에 포함시킨다</a:t>
            </a:r>
            <a:r>
              <a:rPr lang="en-US" altLang="ko-KR" sz="1800" dirty="0"/>
              <a:t>.</a:t>
            </a:r>
          </a:p>
          <a:p>
            <a:pPr marL="800100" lvl="1" indent="-342900" algn="just" eaLnBrk="1" hangingPunct="1">
              <a:buFont typeface="+mj-lt"/>
              <a:buAutoNum type="arabicPeriod"/>
            </a:pPr>
            <a:r>
              <a:rPr lang="ko-KR" altLang="en-US" sz="1800" dirty="0"/>
              <a:t>사이클이 발생하는 경우 최소 시장 트리에 포함시키지 않는다</a:t>
            </a:r>
            <a:r>
              <a:rPr lang="en-US" altLang="ko-KR" sz="1800" dirty="0"/>
              <a:t>.</a:t>
            </a:r>
          </a:p>
          <a:p>
            <a:pPr marL="457200" indent="-457200" algn="just" eaLnBrk="1" hangingPunct="1">
              <a:buFont typeface="+mj-lt"/>
              <a:buAutoNum type="arabicPeriod"/>
            </a:pPr>
            <a:r>
              <a:rPr lang="ko-KR" altLang="en-US" sz="2000" dirty="0"/>
              <a:t>모든 간선에 대하여 </a:t>
            </a:r>
            <a:r>
              <a:rPr lang="en-US" altLang="ko-KR" sz="2000" dirty="0"/>
              <a:t>2</a:t>
            </a:r>
            <a:r>
              <a:rPr lang="ko-KR" altLang="en-US" sz="2000" dirty="0"/>
              <a:t>번의 과정을 반복한다</a:t>
            </a:r>
            <a:r>
              <a:rPr lang="en-US" altLang="ko-KR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31141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D7D22-0ACF-0A8B-A5D9-700B61E87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09111A21-CF62-D797-C76B-137706673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28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5998E670-EE7A-A8E3-A3A8-FAC476CF01EA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1520" y="274638"/>
            <a:ext cx="8640960" cy="868362"/>
          </a:xfrm>
        </p:spPr>
        <p:txBody>
          <a:bodyPr/>
          <a:lstStyle/>
          <a:p>
            <a:pPr eaLnBrk="1" hangingPunct="1"/>
            <a:r>
              <a:rPr lang="ko-KR" altLang="en-US" sz="2800" b="1" dirty="0" err="1">
                <a:solidFill>
                  <a:srgbClr val="0000FF"/>
                </a:solidFill>
              </a:rPr>
              <a:t>크루스칼</a:t>
            </a:r>
            <a:r>
              <a:rPr lang="ko-KR" altLang="en-US" sz="2800" b="1" dirty="0">
                <a:solidFill>
                  <a:srgbClr val="0000FF"/>
                </a:solidFill>
              </a:rPr>
              <a:t> 알고리즘</a:t>
            </a:r>
            <a:r>
              <a:rPr lang="en-US" altLang="ko-KR" sz="2800" b="1" dirty="0">
                <a:solidFill>
                  <a:srgbClr val="0000FF"/>
                </a:solidFill>
              </a:rPr>
              <a:t>: </a:t>
            </a:r>
            <a:r>
              <a:rPr lang="ko-KR" altLang="en-US" sz="2800" b="1" dirty="0">
                <a:solidFill>
                  <a:srgbClr val="0000FF"/>
                </a:solidFill>
              </a:rPr>
              <a:t>동작 과정 살펴보기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96F9D0D-CB2C-1EA4-555B-A0308C570F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1455353"/>
            <a:ext cx="8640960" cy="3730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6461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D3472-C749-2633-4D48-2367C4ACF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68CF4537-0E14-6591-AA0B-222DCBCB3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29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98FF0F92-8E18-54DE-E255-FA664A174EAA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1520" y="274638"/>
            <a:ext cx="8640960" cy="868362"/>
          </a:xfrm>
        </p:spPr>
        <p:txBody>
          <a:bodyPr/>
          <a:lstStyle/>
          <a:p>
            <a:pPr eaLnBrk="1" hangingPunct="1"/>
            <a:r>
              <a:rPr lang="ko-KR" altLang="en-US" sz="2800" b="1" dirty="0" err="1">
                <a:solidFill>
                  <a:srgbClr val="0000FF"/>
                </a:solidFill>
              </a:rPr>
              <a:t>크루스칼</a:t>
            </a:r>
            <a:r>
              <a:rPr lang="ko-KR" altLang="en-US" sz="2800" b="1" dirty="0">
                <a:solidFill>
                  <a:srgbClr val="0000FF"/>
                </a:solidFill>
              </a:rPr>
              <a:t> 알고리즘</a:t>
            </a:r>
            <a:r>
              <a:rPr lang="en-US" altLang="ko-KR" sz="2800" b="1" dirty="0">
                <a:solidFill>
                  <a:srgbClr val="0000FF"/>
                </a:solidFill>
              </a:rPr>
              <a:t>: </a:t>
            </a:r>
            <a:r>
              <a:rPr lang="ko-KR" altLang="en-US" sz="2800" b="1" dirty="0">
                <a:solidFill>
                  <a:srgbClr val="0000FF"/>
                </a:solidFill>
              </a:rPr>
              <a:t>동작 과정 살펴보기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7A7462D-38C8-E8EE-7B08-9019636E9D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1173222"/>
            <a:ext cx="8640961" cy="4263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7984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EA201-EAA5-8B0A-73A9-5393C6FCF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592FCCF7-BA34-FEEE-4BDD-751BD937B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30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330CD1C2-D238-9910-F770-C6C4F271B7DB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1520" y="274638"/>
            <a:ext cx="8640960" cy="868362"/>
          </a:xfrm>
        </p:spPr>
        <p:txBody>
          <a:bodyPr/>
          <a:lstStyle/>
          <a:p>
            <a:pPr eaLnBrk="1" hangingPunct="1"/>
            <a:r>
              <a:rPr lang="ko-KR" altLang="en-US" sz="2800" b="1" dirty="0" err="1">
                <a:solidFill>
                  <a:srgbClr val="0000FF"/>
                </a:solidFill>
              </a:rPr>
              <a:t>크루스칼</a:t>
            </a:r>
            <a:r>
              <a:rPr lang="ko-KR" altLang="en-US" sz="2800" b="1" dirty="0">
                <a:solidFill>
                  <a:srgbClr val="0000FF"/>
                </a:solidFill>
              </a:rPr>
              <a:t> 알고리즘</a:t>
            </a:r>
            <a:r>
              <a:rPr lang="en-US" altLang="ko-KR" sz="2800" b="1" dirty="0">
                <a:solidFill>
                  <a:srgbClr val="0000FF"/>
                </a:solidFill>
              </a:rPr>
              <a:t>: </a:t>
            </a:r>
            <a:r>
              <a:rPr lang="ko-KR" altLang="en-US" sz="2800" b="1" dirty="0">
                <a:solidFill>
                  <a:srgbClr val="0000FF"/>
                </a:solidFill>
              </a:rPr>
              <a:t>동작 과정 살펴보기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D0B8871-FC02-4CFE-5C36-B11586630D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1156297"/>
            <a:ext cx="8640961" cy="4295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9141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94946-3373-6176-785B-F5D995CD6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CA1FEEFE-37A4-7B43-57B3-521FD284E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31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71BE7C14-158C-9677-4360-EA5ABCFF43B4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1520" y="274638"/>
            <a:ext cx="8640960" cy="868362"/>
          </a:xfrm>
        </p:spPr>
        <p:txBody>
          <a:bodyPr/>
          <a:lstStyle/>
          <a:p>
            <a:pPr eaLnBrk="1" hangingPunct="1"/>
            <a:r>
              <a:rPr lang="ko-KR" altLang="en-US" sz="2800" b="1" dirty="0" err="1">
                <a:solidFill>
                  <a:srgbClr val="0000FF"/>
                </a:solidFill>
              </a:rPr>
              <a:t>크루스칼</a:t>
            </a:r>
            <a:r>
              <a:rPr lang="ko-KR" altLang="en-US" sz="2800" b="1" dirty="0">
                <a:solidFill>
                  <a:srgbClr val="0000FF"/>
                </a:solidFill>
              </a:rPr>
              <a:t> 알고리즘</a:t>
            </a:r>
            <a:r>
              <a:rPr lang="en-US" altLang="ko-KR" sz="2800" b="1" dirty="0">
                <a:solidFill>
                  <a:srgbClr val="0000FF"/>
                </a:solidFill>
              </a:rPr>
              <a:t>: </a:t>
            </a:r>
            <a:r>
              <a:rPr lang="ko-KR" altLang="en-US" sz="2800" b="1" dirty="0">
                <a:solidFill>
                  <a:srgbClr val="0000FF"/>
                </a:solidFill>
              </a:rPr>
              <a:t>동작 과정 살펴보기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2BE3FFC-9044-0A84-8B8E-E7E9836DC0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1153903"/>
            <a:ext cx="8623773" cy="4291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6375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3F557-31AC-DA63-3BF1-12116B073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35BC086F-070D-1F01-5CF5-F4BB0370C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32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4A18FF91-F582-60D8-ACAF-532EE28390D3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1520" y="274638"/>
            <a:ext cx="8640960" cy="868362"/>
          </a:xfrm>
        </p:spPr>
        <p:txBody>
          <a:bodyPr/>
          <a:lstStyle/>
          <a:p>
            <a:pPr eaLnBrk="1" hangingPunct="1"/>
            <a:r>
              <a:rPr lang="ko-KR" altLang="en-US" sz="2800" b="1" dirty="0" err="1">
                <a:solidFill>
                  <a:srgbClr val="0000FF"/>
                </a:solidFill>
              </a:rPr>
              <a:t>크루스칼</a:t>
            </a:r>
            <a:r>
              <a:rPr lang="ko-KR" altLang="en-US" sz="2800" b="1" dirty="0">
                <a:solidFill>
                  <a:srgbClr val="0000FF"/>
                </a:solidFill>
              </a:rPr>
              <a:t> 알고리즘</a:t>
            </a:r>
            <a:r>
              <a:rPr lang="en-US" altLang="ko-KR" sz="2800" b="1" dirty="0">
                <a:solidFill>
                  <a:srgbClr val="0000FF"/>
                </a:solidFill>
              </a:rPr>
              <a:t>: </a:t>
            </a:r>
            <a:r>
              <a:rPr lang="ko-KR" altLang="en-US" sz="2800" b="1" dirty="0">
                <a:solidFill>
                  <a:srgbClr val="0000FF"/>
                </a:solidFill>
              </a:rPr>
              <a:t>동작 과정 살펴보기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7F9E884-B5E8-B6E0-1CE9-5C88CFE4AC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1149051"/>
            <a:ext cx="8615150" cy="4296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8266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A842D-63B7-9C58-D3FB-2CAD44FBD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A11E300C-95AE-B83C-2E52-B344860B7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33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2EFDF50A-756E-E61A-5D32-86FBC6DFB9C6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1520" y="274638"/>
            <a:ext cx="8640960" cy="868362"/>
          </a:xfrm>
        </p:spPr>
        <p:txBody>
          <a:bodyPr/>
          <a:lstStyle/>
          <a:p>
            <a:pPr eaLnBrk="1" hangingPunct="1"/>
            <a:r>
              <a:rPr lang="ko-KR" altLang="en-US" sz="2800" b="1" dirty="0" err="1">
                <a:solidFill>
                  <a:srgbClr val="0000FF"/>
                </a:solidFill>
              </a:rPr>
              <a:t>크루스칼</a:t>
            </a:r>
            <a:r>
              <a:rPr lang="ko-KR" altLang="en-US" sz="2800" b="1" dirty="0">
                <a:solidFill>
                  <a:srgbClr val="0000FF"/>
                </a:solidFill>
              </a:rPr>
              <a:t> 알고리즘</a:t>
            </a:r>
            <a:r>
              <a:rPr lang="en-US" altLang="ko-KR" sz="2800" b="1" dirty="0">
                <a:solidFill>
                  <a:srgbClr val="0000FF"/>
                </a:solidFill>
              </a:rPr>
              <a:t>: </a:t>
            </a:r>
            <a:r>
              <a:rPr lang="ko-KR" altLang="en-US" sz="2800" b="1" dirty="0">
                <a:solidFill>
                  <a:srgbClr val="0000FF"/>
                </a:solidFill>
              </a:rPr>
              <a:t>동작 과정 살펴보기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5381E16-7682-3907-C1CB-7179EE420B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1157423"/>
            <a:ext cx="8630051" cy="4287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9287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581A6-FC8A-03A7-7CC5-F4A45112C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775970C5-1AF6-CF9B-4E89-FCDB8B75E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34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5CEABD32-CD80-182F-A217-BE37CF4FBEEE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1520" y="274638"/>
            <a:ext cx="8640960" cy="868362"/>
          </a:xfrm>
        </p:spPr>
        <p:txBody>
          <a:bodyPr/>
          <a:lstStyle/>
          <a:p>
            <a:pPr eaLnBrk="1" hangingPunct="1"/>
            <a:r>
              <a:rPr lang="ko-KR" altLang="en-US" sz="2800" b="1" dirty="0" err="1">
                <a:solidFill>
                  <a:srgbClr val="0000FF"/>
                </a:solidFill>
              </a:rPr>
              <a:t>크루스칼</a:t>
            </a:r>
            <a:r>
              <a:rPr lang="ko-KR" altLang="en-US" sz="2800" b="1" dirty="0">
                <a:solidFill>
                  <a:srgbClr val="0000FF"/>
                </a:solidFill>
              </a:rPr>
              <a:t> 알고리즘</a:t>
            </a:r>
            <a:r>
              <a:rPr lang="en-US" altLang="ko-KR" sz="2800" b="1" dirty="0">
                <a:solidFill>
                  <a:srgbClr val="0000FF"/>
                </a:solidFill>
              </a:rPr>
              <a:t>: </a:t>
            </a:r>
            <a:r>
              <a:rPr lang="ko-KR" altLang="en-US" sz="2800" b="1" dirty="0">
                <a:solidFill>
                  <a:srgbClr val="0000FF"/>
                </a:solidFill>
              </a:rPr>
              <a:t>동작 과정 살펴보기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084C960-1BF5-1F39-FB36-6D46B9F610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1153891"/>
            <a:ext cx="8623753" cy="4291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6814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54B29-079A-68E1-9B86-6EF63DBED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882B9361-124C-7478-2277-ACA18DD15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35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DCEC1267-0DDC-AA14-45F5-8564B0D4E4BA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1520" y="274638"/>
            <a:ext cx="8640960" cy="868362"/>
          </a:xfrm>
        </p:spPr>
        <p:txBody>
          <a:bodyPr/>
          <a:lstStyle/>
          <a:p>
            <a:pPr eaLnBrk="1" hangingPunct="1"/>
            <a:r>
              <a:rPr lang="ko-KR" altLang="en-US" sz="2800" b="1" dirty="0" err="1">
                <a:solidFill>
                  <a:srgbClr val="0000FF"/>
                </a:solidFill>
              </a:rPr>
              <a:t>크루스칼</a:t>
            </a:r>
            <a:r>
              <a:rPr lang="ko-KR" altLang="en-US" sz="2800" b="1" dirty="0">
                <a:solidFill>
                  <a:srgbClr val="0000FF"/>
                </a:solidFill>
              </a:rPr>
              <a:t> 알고리즘</a:t>
            </a:r>
            <a:r>
              <a:rPr lang="en-US" altLang="ko-KR" sz="2800" b="1" dirty="0">
                <a:solidFill>
                  <a:srgbClr val="0000FF"/>
                </a:solidFill>
              </a:rPr>
              <a:t>: </a:t>
            </a:r>
            <a:r>
              <a:rPr lang="ko-KR" altLang="en-US" sz="2800" b="1" dirty="0">
                <a:solidFill>
                  <a:srgbClr val="0000FF"/>
                </a:solidFill>
              </a:rPr>
              <a:t>동작 과정 살펴보기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4D4BD59-9A5D-69FA-7932-A9A0E96679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1163507"/>
            <a:ext cx="8640951" cy="4281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3996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AEF65-F87A-06D3-18D1-E6174D05C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EF4E98EA-DEBD-FA9F-DD48-F6F8F0DBF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36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A45D36FB-7C13-0437-43A1-C949969CD6BD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1520" y="274638"/>
            <a:ext cx="8640960" cy="868362"/>
          </a:xfrm>
        </p:spPr>
        <p:txBody>
          <a:bodyPr/>
          <a:lstStyle/>
          <a:p>
            <a:pPr eaLnBrk="1" hangingPunct="1"/>
            <a:r>
              <a:rPr lang="ko-KR" altLang="en-US" sz="2800" b="1" dirty="0" err="1">
                <a:solidFill>
                  <a:srgbClr val="0000FF"/>
                </a:solidFill>
              </a:rPr>
              <a:t>크루스칼</a:t>
            </a:r>
            <a:r>
              <a:rPr lang="ko-KR" altLang="en-US" sz="2800" b="1" dirty="0">
                <a:solidFill>
                  <a:srgbClr val="0000FF"/>
                </a:solidFill>
              </a:rPr>
              <a:t> 알고리즘</a:t>
            </a:r>
            <a:r>
              <a:rPr lang="en-US" altLang="ko-KR" sz="2800" b="1" dirty="0">
                <a:solidFill>
                  <a:srgbClr val="0000FF"/>
                </a:solidFill>
              </a:rPr>
              <a:t>: </a:t>
            </a:r>
            <a:r>
              <a:rPr lang="ko-KR" altLang="en-US" sz="2800" b="1" dirty="0">
                <a:solidFill>
                  <a:srgbClr val="0000FF"/>
                </a:solidFill>
              </a:rPr>
              <a:t>동작 과정 살펴보기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354ED07-A2D1-040F-0D02-89FB9DB70A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1173351"/>
            <a:ext cx="8658707" cy="4271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4027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21E8C-02EC-9F89-6D74-66AF5B966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0E9EA65C-A264-DB17-3C4C-198247053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37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EC7DC8B7-90AF-50CA-DD25-F6513F929765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1520" y="274638"/>
            <a:ext cx="8640960" cy="868362"/>
          </a:xfrm>
        </p:spPr>
        <p:txBody>
          <a:bodyPr/>
          <a:lstStyle/>
          <a:p>
            <a:pPr eaLnBrk="1" hangingPunct="1"/>
            <a:r>
              <a:rPr lang="ko-KR" altLang="en-US" sz="2800" b="1" dirty="0" err="1">
                <a:solidFill>
                  <a:srgbClr val="0000FF"/>
                </a:solidFill>
              </a:rPr>
              <a:t>크루스칼</a:t>
            </a:r>
            <a:r>
              <a:rPr lang="ko-KR" altLang="en-US" sz="2800" b="1" dirty="0">
                <a:solidFill>
                  <a:srgbClr val="0000FF"/>
                </a:solidFill>
              </a:rPr>
              <a:t> 알고리즘</a:t>
            </a:r>
            <a:r>
              <a:rPr lang="en-US" altLang="ko-KR" sz="2800" b="1" dirty="0">
                <a:solidFill>
                  <a:srgbClr val="0000FF"/>
                </a:solidFill>
              </a:rPr>
              <a:t>: </a:t>
            </a:r>
            <a:r>
              <a:rPr lang="ko-KR" altLang="en-US" sz="2800" b="1" dirty="0">
                <a:solidFill>
                  <a:srgbClr val="0000FF"/>
                </a:solidFill>
              </a:rPr>
              <a:t>동작 과정 살펴보기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C829B8D-7D19-4445-8D2A-085086AD81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1167114"/>
            <a:ext cx="8647438" cy="4278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46471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534CD-A8EB-0433-FCD7-ACF23B38B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69978BDC-6B25-F0D9-FF09-0F266C13F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38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AAF8F832-177C-66F7-BC52-C531C2CD3D4C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1520" y="274638"/>
            <a:ext cx="8640960" cy="868362"/>
          </a:xfrm>
        </p:spPr>
        <p:txBody>
          <a:bodyPr/>
          <a:lstStyle/>
          <a:p>
            <a:pPr eaLnBrk="1" hangingPunct="1"/>
            <a:r>
              <a:rPr lang="ko-KR" altLang="en-US" sz="2800" b="1" dirty="0" err="1">
                <a:solidFill>
                  <a:srgbClr val="0000FF"/>
                </a:solidFill>
              </a:rPr>
              <a:t>크루스칼</a:t>
            </a:r>
            <a:r>
              <a:rPr lang="ko-KR" altLang="en-US" sz="2800" b="1" dirty="0">
                <a:solidFill>
                  <a:srgbClr val="0000FF"/>
                </a:solidFill>
              </a:rPr>
              <a:t> 알고리즘</a:t>
            </a:r>
            <a:r>
              <a:rPr lang="en-US" altLang="ko-KR" sz="2800" b="1" dirty="0">
                <a:solidFill>
                  <a:srgbClr val="0000FF"/>
                </a:solidFill>
              </a:rPr>
              <a:t>: </a:t>
            </a:r>
            <a:r>
              <a:rPr lang="ko-KR" altLang="en-US" sz="2800" b="1" dirty="0">
                <a:solidFill>
                  <a:srgbClr val="0000FF"/>
                </a:solidFill>
              </a:rPr>
              <a:t>동작 과정 살펴보기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6D8B0E0-C606-E2A1-2088-77508D09E0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1370428"/>
            <a:ext cx="8640960" cy="3890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8111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62A1D-6630-F829-393D-0DBAEB77F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7A21221A-4335-256B-9B0D-76559B9F2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39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C691A825-207C-4E50-2AE4-497EBD51D3D1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1520" y="274638"/>
            <a:ext cx="8640960" cy="868362"/>
          </a:xfrm>
        </p:spPr>
        <p:txBody>
          <a:bodyPr/>
          <a:lstStyle/>
          <a:p>
            <a:pPr eaLnBrk="1" hangingPunct="1"/>
            <a:r>
              <a:rPr lang="ko-KR" altLang="en-US" sz="2800" b="1" dirty="0" err="1">
                <a:solidFill>
                  <a:srgbClr val="0000FF"/>
                </a:solidFill>
              </a:rPr>
              <a:t>크루스칼</a:t>
            </a:r>
            <a:r>
              <a:rPr lang="ko-KR" altLang="en-US" sz="2800" b="1" dirty="0">
                <a:solidFill>
                  <a:srgbClr val="0000FF"/>
                </a:solidFill>
              </a:rPr>
              <a:t> 알고리즘</a:t>
            </a:r>
            <a:r>
              <a:rPr lang="en-US" altLang="ko-KR" sz="2800" b="1" dirty="0">
                <a:solidFill>
                  <a:srgbClr val="0000FF"/>
                </a:solidFill>
              </a:rPr>
              <a:t>: </a:t>
            </a:r>
            <a:r>
              <a:rPr lang="ko-KR" altLang="en-US" sz="2800" b="1" dirty="0">
                <a:solidFill>
                  <a:srgbClr val="0000FF"/>
                </a:solidFill>
              </a:rPr>
              <a:t>구현 예시 </a:t>
            </a:r>
            <a:r>
              <a:rPr lang="en-US" altLang="ko-KR" sz="2800" b="1" dirty="0">
                <a:solidFill>
                  <a:srgbClr val="0000FF"/>
                </a:solidFill>
              </a:rPr>
              <a:t>(Python)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034E9BC-37A9-66D3-F4D9-8FE60257B5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1124744"/>
            <a:ext cx="8640960" cy="5233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0276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86716-EA33-9A80-97CA-B55E018D9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7E244730-0F32-6983-1AB0-9750914D1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40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E182F5DF-0794-8393-CD44-99164CF7479F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1520" y="274638"/>
            <a:ext cx="8640960" cy="868362"/>
          </a:xfrm>
        </p:spPr>
        <p:txBody>
          <a:bodyPr/>
          <a:lstStyle/>
          <a:p>
            <a:pPr eaLnBrk="1" hangingPunct="1"/>
            <a:r>
              <a:rPr lang="ko-KR" altLang="en-US" sz="2800" b="1" dirty="0" err="1">
                <a:solidFill>
                  <a:srgbClr val="0000FF"/>
                </a:solidFill>
              </a:rPr>
              <a:t>크루스칼</a:t>
            </a:r>
            <a:r>
              <a:rPr lang="ko-KR" altLang="en-US" sz="2800" b="1" dirty="0">
                <a:solidFill>
                  <a:srgbClr val="0000FF"/>
                </a:solidFill>
              </a:rPr>
              <a:t> 알고리즘</a:t>
            </a:r>
            <a:r>
              <a:rPr lang="en-US" altLang="ko-KR" sz="2800" b="1" dirty="0">
                <a:solidFill>
                  <a:srgbClr val="0000FF"/>
                </a:solidFill>
              </a:rPr>
              <a:t>: </a:t>
            </a:r>
            <a:r>
              <a:rPr lang="ko-KR" altLang="en-US" sz="2800" b="1" dirty="0">
                <a:solidFill>
                  <a:srgbClr val="0000FF"/>
                </a:solidFill>
              </a:rPr>
              <a:t>구현 예시 </a:t>
            </a:r>
            <a:r>
              <a:rPr lang="en-US" altLang="ko-KR" sz="2800" b="1" dirty="0">
                <a:solidFill>
                  <a:srgbClr val="0000FF"/>
                </a:solidFill>
              </a:rPr>
              <a:t>(C++)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373880B-BB95-3308-4E74-8EA0113A21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244" y="980728"/>
            <a:ext cx="7501512" cy="315925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F87475B-2FFA-D313-72F7-0F155D9A1F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568" y="2708920"/>
            <a:ext cx="7501512" cy="3933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30921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FB5DA-72DF-1C47-F54C-EEB310BB1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96DDD543-91C2-2B76-AFB1-6F9E59F85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41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E334A5ED-AD04-632E-3D47-753F7061F254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1520" y="274638"/>
            <a:ext cx="8640960" cy="868362"/>
          </a:xfrm>
        </p:spPr>
        <p:txBody>
          <a:bodyPr/>
          <a:lstStyle/>
          <a:p>
            <a:pPr eaLnBrk="1" hangingPunct="1"/>
            <a:r>
              <a:rPr lang="ko-KR" altLang="en-US" sz="2800" b="1" dirty="0" err="1">
                <a:solidFill>
                  <a:srgbClr val="0000FF"/>
                </a:solidFill>
              </a:rPr>
              <a:t>크루스칼</a:t>
            </a:r>
            <a:r>
              <a:rPr lang="ko-KR" altLang="en-US" sz="2800" b="1" dirty="0">
                <a:solidFill>
                  <a:srgbClr val="0000FF"/>
                </a:solidFill>
              </a:rPr>
              <a:t> 알고리즘 성능</a:t>
            </a:r>
            <a:r>
              <a:rPr lang="en-US" altLang="ko-KR" sz="2800" b="1" dirty="0">
                <a:solidFill>
                  <a:srgbClr val="0000FF"/>
                </a:solidFill>
              </a:rPr>
              <a:t> </a:t>
            </a:r>
            <a:r>
              <a:rPr lang="ko-KR" altLang="en-US" sz="2800" b="1" dirty="0">
                <a:solidFill>
                  <a:srgbClr val="0000FF"/>
                </a:solidFill>
              </a:rPr>
              <a:t>분석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A8536E93-6460-E2DA-2F91-17C5BFBC2C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8"/>
            <a:ext cx="8640960" cy="4911725"/>
          </a:xfrm>
        </p:spPr>
        <p:txBody>
          <a:bodyPr/>
          <a:lstStyle/>
          <a:p>
            <a:pPr algn="just" eaLnBrk="1" hangingPunct="1"/>
            <a:r>
              <a:rPr lang="ko-KR" altLang="en-US" sz="2000" dirty="0" err="1"/>
              <a:t>크루스칼</a:t>
            </a:r>
            <a:r>
              <a:rPr lang="ko-KR" altLang="en-US" sz="2000" dirty="0"/>
              <a:t> 알고리즘은 간선의 개수가 </a:t>
            </a:r>
            <a:r>
              <a:rPr lang="en-US" altLang="ko-KR" sz="2000" dirty="0"/>
              <a:t>E</a:t>
            </a:r>
            <a:r>
              <a:rPr lang="ko-KR" altLang="en-US" sz="2000" dirty="0"/>
              <a:t>개 일 때</a:t>
            </a:r>
            <a:r>
              <a:rPr lang="en-US" altLang="ko-KR" sz="2000" dirty="0"/>
              <a:t>, </a:t>
            </a:r>
            <a:r>
              <a:rPr lang="en-US" altLang="ko-KR" sz="2000" b="1" dirty="0"/>
              <a:t>O(</a:t>
            </a:r>
            <a:r>
              <a:rPr lang="en-US" altLang="ko-KR" sz="2000" b="1" dirty="0" err="1"/>
              <a:t>ElogE</a:t>
            </a:r>
            <a:r>
              <a:rPr lang="en-US" altLang="ko-KR" sz="2000" b="1" dirty="0"/>
              <a:t>)</a:t>
            </a:r>
            <a:r>
              <a:rPr lang="ko-KR" altLang="en-US" sz="2000" dirty="0"/>
              <a:t>의 시간 복잡도</a:t>
            </a:r>
            <a:endParaRPr lang="en-US" altLang="ko-KR" sz="2000" dirty="0"/>
          </a:p>
          <a:p>
            <a:pPr algn="just" eaLnBrk="1" hangingPunct="1"/>
            <a:r>
              <a:rPr lang="ko-KR" altLang="en-US" sz="2000" dirty="0" err="1"/>
              <a:t>쿠루스칼</a:t>
            </a:r>
            <a:r>
              <a:rPr lang="ko-KR" altLang="en-US" sz="2000" dirty="0"/>
              <a:t> 알고리즘에서 </a:t>
            </a:r>
            <a:r>
              <a:rPr lang="ko-KR" altLang="en-US" sz="2000" b="1" dirty="0"/>
              <a:t>가장 많은 시간을 요구하는 곳은 간선을 정렬하는 부분</a:t>
            </a:r>
            <a:endParaRPr lang="en-US" altLang="ko-KR" sz="2000" b="1" dirty="0"/>
          </a:p>
          <a:p>
            <a:pPr lvl="1" algn="just" eaLnBrk="1" hangingPunct="1"/>
            <a:r>
              <a:rPr lang="ko-KR" altLang="en-US" sz="1800" dirty="0"/>
              <a:t>표준 라이브러리를 이용해 </a:t>
            </a:r>
            <a:r>
              <a:rPr lang="en-US" altLang="ko-KR" sz="1800" dirty="0"/>
              <a:t>E</a:t>
            </a:r>
            <a:r>
              <a:rPr lang="ko-KR" altLang="en-US" sz="1800" dirty="0"/>
              <a:t>개의 데이터를 </a:t>
            </a:r>
            <a:r>
              <a:rPr lang="ko-KR" altLang="en-US" sz="1800" u="sng" dirty="0"/>
              <a:t>정렬하기 위한 시간 복잡도는 </a:t>
            </a:r>
            <a:r>
              <a:rPr lang="en-US" altLang="ko-KR" sz="1800" u="sng" dirty="0"/>
              <a:t>O(</a:t>
            </a:r>
            <a:r>
              <a:rPr lang="en-US" altLang="ko-KR" sz="1800" u="sng" dirty="0" err="1"/>
              <a:t>ElogE</a:t>
            </a:r>
            <a:r>
              <a:rPr lang="en-US" altLang="ko-KR" sz="1800" u="sng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257637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6BF3E-EAE6-E712-F02F-3AED4DB27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F5F20B15-BED8-A117-AC4B-2AA373E83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42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926971A1-B4AB-8C87-A190-89C2F338E68A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1520" y="274638"/>
            <a:ext cx="8640960" cy="868362"/>
          </a:xfrm>
        </p:spPr>
        <p:txBody>
          <a:bodyPr/>
          <a:lstStyle/>
          <a:p>
            <a:pPr eaLnBrk="1" hangingPunct="1"/>
            <a:r>
              <a:rPr lang="ko-KR" altLang="en-US" sz="2800" b="1" dirty="0">
                <a:solidFill>
                  <a:srgbClr val="0000FF"/>
                </a:solidFill>
              </a:rPr>
              <a:t>위상</a:t>
            </a:r>
            <a:r>
              <a:rPr lang="en-US" altLang="ko-KR" sz="2800" b="1" dirty="0">
                <a:solidFill>
                  <a:srgbClr val="0000FF"/>
                </a:solidFill>
              </a:rPr>
              <a:t> </a:t>
            </a:r>
            <a:r>
              <a:rPr lang="ko-KR" altLang="en-US" sz="2800" b="1" dirty="0">
                <a:solidFill>
                  <a:srgbClr val="0000FF"/>
                </a:solidFill>
              </a:rPr>
              <a:t>정렬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C7C272C0-AACD-85BB-7498-7F040C268E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8"/>
            <a:ext cx="8640960" cy="4911725"/>
          </a:xfrm>
        </p:spPr>
        <p:txBody>
          <a:bodyPr/>
          <a:lstStyle/>
          <a:p>
            <a:pPr algn="just" eaLnBrk="1" hangingPunct="1"/>
            <a:r>
              <a:rPr lang="ko-KR" altLang="en-US" sz="2000" b="1" dirty="0"/>
              <a:t>사이클이 없는 방향 그래프의 모든 노드를 방향성에 거스르지 않도록 순서대로 나열</a:t>
            </a:r>
            <a:r>
              <a:rPr lang="ko-KR" altLang="en-US" sz="2000" dirty="0"/>
              <a:t>하는 것</a:t>
            </a:r>
            <a:endParaRPr lang="en-US" altLang="ko-KR" sz="2000" dirty="0"/>
          </a:p>
          <a:p>
            <a:pPr algn="just" eaLnBrk="1" hangingPunct="1"/>
            <a:r>
              <a:rPr lang="ko-KR" altLang="en-US" sz="2000" u="sng" dirty="0"/>
              <a:t>예시</a:t>
            </a:r>
            <a:r>
              <a:rPr lang="en-US" altLang="ko-KR" sz="2000" u="sng" dirty="0"/>
              <a:t>) </a:t>
            </a:r>
            <a:r>
              <a:rPr lang="ko-KR" altLang="en-US" sz="2000" u="sng" dirty="0"/>
              <a:t>선수 과목을 고려한 학습 순서 설정</a:t>
            </a:r>
            <a:endParaRPr lang="en-US" altLang="ko-KR" sz="2000" u="sng" dirty="0"/>
          </a:p>
          <a:p>
            <a:pPr algn="just" eaLnBrk="1" hangingPunct="1"/>
            <a:endParaRPr lang="en-US" altLang="ko-KR" sz="2000" u="sng" dirty="0"/>
          </a:p>
          <a:p>
            <a:pPr algn="just" eaLnBrk="1" hangingPunct="1"/>
            <a:endParaRPr lang="en-US" altLang="ko-KR" sz="2000" u="sng" dirty="0"/>
          </a:p>
          <a:p>
            <a:pPr algn="just" eaLnBrk="1" hangingPunct="1"/>
            <a:endParaRPr lang="en-US" altLang="ko-KR" sz="2000" u="sng" dirty="0"/>
          </a:p>
          <a:p>
            <a:pPr algn="just" eaLnBrk="1" hangingPunct="1"/>
            <a:endParaRPr lang="en-US" altLang="ko-KR" sz="2000" u="sng" dirty="0"/>
          </a:p>
          <a:p>
            <a:pPr algn="just" eaLnBrk="1" hangingPunct="1"/>
            <a:endParaRPr lang="en-US" altLang="ko-KR" sz="2000" u="sng" dirty="0"/>
          </a:p>
          <a:p>
            <a:pPr marL="0" indent="0" algn="just" eaLnBrk="1" hangingPunct="1">
              <a:buNone/>
            </a:pPr>
            <a:endParaRPr lang="en-US" altLang="ko-KR" sz="1800" u="sng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BA6AAD6-FC5A-F4D0-9CFE-D0CD40DCC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632" y="2708920"/>
            <a:ext cx="7020272" cy="3142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20468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05687-E72F-26A1-A6DC-F88C219DA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8DD4D10B-1364-41DE-18A4-A76EDCDE0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43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849CE72B-13FD-64CF-8C5F-AAF772D35F4D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1520" y="274638"/>
            <a:ext cx="8640960" cy="868362"/>
          </a:xfrm>
        </p:spPr>
        <p:txBody>
          <a:bodyPr/>
          <a:lstStyle/>
          <a:p>
            <a:pPr eaLnBrk="1" hangingPunct="1"/>
            <a:r>
              <a:rPr lang="ko-KR" altLang="en-US" sz="2800" b="1" dirty="0" err="1">
                <a:solidFill>
                  <a:srgbClr val="0000FF"/>
                </a:solidFill>
              </a:rPr>
              <a:t>진입차수와</a:t>
            </a:r>
            <a:r>
              <a:rPr lang="ko-KR" altLang="en-US" sz="2800" b="1" dirty="0">
                <a:solidFill>
                  <a:srgbClr val="0000FF"/>
                </a:solidFill>
              </a:rPr>
              <a:t> </a:t>
            </a:r>
            <a:r>
              <a:rPr lang="ko-KR" altLang="en-US" sz="2800" b="1" dirty="0" err="1">
                <a:solidFill>
                  <a:srgbClr val="0000FF"/>
                </a:solidFill>
              </a:rPr>
              <a:t>진출차수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97B23D25-33D8-5AA7-7E6D-E820FA353F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8"/>
            <a:ext cx="8640960" cy="4911725"/>
          </a:xfrm>
        </p:spPr>
        <p:txBody>
          <a:bodyPr/>
          <a:lstStyle/>
          <a:p>
            <a:pPr algn="just" eaLnBrk="1" hangingPunct="1"/>
            <a:r>
              <a:rPr lang="ko-KR" altLang="en-US" sz="2000" b="1" dirty="0" err="1"/>
              <a:t>진입차수</a:t>
            </a:r>
            <a:r>
              <a:rPr lang="en-US" altLang="ko-KR" sz="2000" b="1" dirty="0"/>
              <a:t>(Indegree): </a:t>
            </a:r>
            <a:r>
              <a:rPr lang="ko-KR" altLang="en-US" sz="2000" dirty="0"/>
              <a:t>특정한 노드로 들어오는 간선의 개수</a:t>
            </a:r>
            <a:endParaRPr lang="en-US" altLang="ko-KR" sz="2000" dirty="0"/>
          </a:p>
          <a:p>
            <a:pPr algn="just" eaLnBrk="1" hangingPunct="1"/>
            <a:r>
              <a:rPr lang="ko-KR" altLang="en-US" sz="2000" b="1" dirty="0" err="1"/>
              <a:t>진출차수</a:t>
            </a:r>
            <a:r>
              <a:rPr lang="en-US" altLang="ko-KR" sz="2000" b="1" dirty="0"/>
              <a:t>(Outdegree):</a:t>
            </a:r>
            <a:r>
              <a:rPr lang="en-US" altLang="ko-KR" sz="2000" dirty="0"/>
              <a:t> </a:t>
            </a:r>
            <a:r>
              <a:rPr lang="ko-KR" altLang="en-US" sz="2000" dirty="0"/>
              <a:t>특정한 노드에서 나가는 간선의 개수</a:t>
            </a:r>
            <a:endParaRPr lang="en-US" altLang="ko-KR" sz="2000" dirty="0"/>
          </a:p>
          <a:p>
            <a:pPr algn="just" eaLnBrk="1" hangingPunct="1"/>
            <a:endParaRPr lang="en-US" altLang="ko-KR" sz="2000" u="sng" dirty="0"/>
          </a:p>
          <a:p>
            <a:pPr algn="just" eaLnBrk="1" hangingPunct="1"/>
            <a:endParaRPr lang="en-US" altLang="ko-KR" sz="2000" u="sng" dirty="0"/>
          </a:p>
          <a:p>
            <a:pPr algn="just" eaLnBrk="1" hangingPunct="1"/>
            <a:endParaRPr lang="en-US" altLang="ko-KR" sz="2000" u="sng" dirty="0"/>
          </a:p>
          <a:p>
            <a:pPr algn="just" eaLnBrk="1" hangingPunct="1"/>
            <a:endParaRPr lang="en-US" altLang="ko-KR" sz="2000" u="sng" dirty="0"/>
          </a:p>
          <a:p>
            <a:pPr marL="0" indent="0" algn="just" eaLnBrk="1" hangingPunct="1">
              <a:buNone/>
            </a:pPr>
            <a:endParaRPr lang="en-US" altLang="ko-KR" sz="1800" u="sng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62D0667-C673-95FE-2975-E1DF87D33B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624" y="2276872"/>
            <a:ext cx="7308304" cy="3539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65784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58963-5243-A61A-86F9-D4E7825B8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FBCB954D-CCAF-CDE2-BD89-772AEF63E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44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8CC38DD7-355B-DBD4-C0D7-CDDA365DC1D5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1520" y="274638"/>
            <a:ext cx="8640960" cy="868362"/>
          </a:xfrm>
        </p:spPr>
        <p:txBody>
          <a:bodyPr/>
          <a:lstStyle/>
          <a:p>
            <a:pPr eaLnBrk="1" hangingPunct="1"/>
            <a:r>
              <a:rPr lang="ko-KR" altLang="en-US" sz="2800" b="1" dirty="0">
                <a:solidFill>
                  <a:srgbClr val="0000FF"/>
                </a:solidFill>
              </a:rPr>
              <a:t>위상 정렬 알고리즘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192650FD-DE8C-BB4F-100D-BC8A889E84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8"/>
            <a:ext cx="8640960" cy="4911725"/>
          </a:xfrm>
        </p:spPr>
        <p:txBody>
          <a:bodyPr/>
          <a:lstStyle/>
          <a:p>
            <a:pPr algn="just" eaLnBrk="1" hangingPunct="1"/>
            <a:r>
              <a:rPr lang="ko-KR" altLang="en-US" sz="2000" b="1" dirty="0"/>
              <a:t>큐</a:t>
            </a:r>
            <a:r>
              <a:rPr lang="ko-KR" altLang="en-US" sz="2000" dirty="0"/>
              <a:t>를 이용하는 </a:t>
            </a:r>
            <a:r>
              <a:rPr lang="ko-KR" altLang="en-US" sz="2000" b="1" dirty="0"/>
              <a:t>위상 정렬 알고리즘의 동작 과정</a:t>
            </a:r>
            <a:r>
              <a:rPr lang="ko-KR" altLang="en-US" sz="2000" dirty="0"/>
              <a:t>은 다음과 같다</a:t>
            </a:r>
            <a:r>
              <a:rPr lang="en-US" altLang="ko-KR" sz="2000" dirty="0"/>
              <a:t>.</a:t>
            </a:r>
          </a:p>
          <a:p>
            <a:pPr marL="457200" indent="-457200" algn="just" eaLnBrk="1" hangingPunct="1">
              <a:buFont typeface="+mj-lt"/>
              <a:buAutoNum type="arabicPeriod"/>
            </a:pPr>
            <a:r>
              <a:rPr lang="ko-KR" altLang="en-US" sz="2000" dirty="0" err="1"/>
              <a:t>진입차수가</a:t>
            </a:r>
            <a:r>
              <a:rPr lang="ko-KR" altLang="en-US" sz="2000" dirty="0"/>
              <a:t> </a:t>
            </a:r>
            <a:r>
              <a:rPr lang="en-US" altLang="ko-KR" sz="2000" dirty="0"/>
              <a:t>0</a:t>
            </a:r>
            <a:r>
              <a:rPr lang="ko-KR" altLang="en-US" sz="2000" dirty="0"/>
              <a:t>인 모든 노드를 큐에 넣는다</a:t>
            </a:r>
            <a:r>
              <a:rPr lang="en-US" altLang="ko-KR" sz="2000" dirty="0"/>
              <a:t>.</a:t>
            </a:r>
          </a:p>
          <a:p>
            <a:pPr marL="457200" indent="-457200" algn="just" eaLnBrk="1" hangingPunct="1">
              <a:buFont typeface="+mj-lt"/>
              <a:buAutoNum type="arabicPeriod"/>
            </a:pPr>
            <a:r>
              <a:rPr lang="ko-KR" altLang="en-US" sz="2000" dirty="0"/>
              <a:t>큐가 빌 때까지 다음의 과정을 반복한다</a:t>
            </a:r>
            <a:r>
              <a:rPr lang="en-US" altLang="ko-KR" sz="2000" dirty="0"/>
              <a:t>.</a:t>
            </a:r>
          </a:p>
          <a:p>
            <a:pPr marL="800100" lvl="1" indent="-342900" algn="just" eaLnBrk="1" hangingPunct="1">
              <a:buFont typeface="+mj-lt"/>
              <a:buAutoNum type="arabicParenR"/>
            </a:pPr>
            <a:r>
              <a:rPr lang="ko-KR" altLang="en-US" sz="1800" dirty="0"/>
              <a:t>큐에서 원소를 꺼내 해당 노드에서 나가는 간선을 그래프에서 제거한다</a:t>
            </a:r>
            <a:r>
              <a:rPr lang="en-US" altLang="ko-KR" sz="1800" dirty="0"/>
              <a:t>.</a:t>
            </a:r>
          </a:p>
          <a:p>
            <a:pPr marL="800100" lvl="1" indent="-342900" algn="just" eaLnBrk="1" hangingPunct="1">
              <a:buFont typeface="+mj-lt"/>
              <a:buAutoNum type="arabicParenR"/>
            </a:pPr>
            <a:r>
              <a:rPr lang="ko-KR" altLang="en-US" sz="1800" dirty="0"/>
              <a:t>새롭게 </a:t>
            </a:r>
            <a:r>
              <a:rPr lang="ko-KR" altLang="en-US" sz="1800" dirty="0" err="1"/>
              <a:t>진입차수가</a:t>
            </a:r>
            <a:r>
              <a:rPr lang="ko-KR" altLang="en-US" sz="1800" dirty="0"/>
              <a:t> </a:t>
            </a:r>
            <a:r>
              <a:rPr lang="en-US" altLang="ko-KR" sz="1800" dirty="0"/>
              <a:t>0</a:t>
            </a:r>
            <a:r>
              <a:rPr lang="ko-KR" altLang="en-US" sz="1800" dirty="0"/>
              <a:t>이 된 노드를 큐에 넣는다</a:t>
            </a:r>
            <a:r>
              <a:rPr lang="en-US" altLang="ko-KR" sz="1800" dirty="0"/>
              <a:t>.</a:t>
            </a:r>
          </a:p>
          <a:p>
            <a:pPr marL="800100" lvl="1" indent="-342900" algn="just" eaLnBrk="1" hangingPunct="1">
              <a:buFont typeface="+mj-lt"/>
              <a:buAutoNum type="arabicParenR"/>
            </a:pPr>
            <a:endParaRPr lang="en-US" altLang="ko-KR" sz="1800" dirty="0"/>
          </a:p>
          <a:p>
            <a:pPr algn="just" eaLnBrk="1" hangingPunct="1"/>
            <a:r>
              <a:rPr lang="ko-KR" altLang="en-US" sz="1800" dirty="0"/>
              <a:t>결과적으로 </a:t>
            </a:r>
            <a:r>
              <a:rPr lang="ko-KR" altLang="en-US" sz="1800" b="1" dirty="0"/>
              <a:t>각 노드가 큐에 들어온 순서가 위상 정렬을 수행한 결과</a:t>
            </a:r>
            <a:r>
              <a:rPr lang="ko-KR" altLang="en-US" sz="1800" dirty="0"/>
              <a:t>와 같다</a:t>
            </a:r>
            <a:r>
              <a:rPr lang="en-US" altLang="ko-KR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4328933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EA892-00D3-A56F-6905-CF5CE25BF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C3730D03-A0B5-FA0C-BB32-DF6230355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45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D113A856-561A-6B55-7B7F-AF2099E5B8B3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1520" y="274638"/>
            <a:ext cx="8640960" cy="868362"/>
          </a:xfrm>
        </p:spPr>
        <p:txBody>
          <a:bodyPr/>
          <a:lstStyle/>
          <a:p>
            <a:pPr eaLnBrk="1" hangingPunct="1"/>
            <a:r>
              <a:rPr lang="ko-KR" altLang="en-US" sz="2800" b="1" dirty="0">
                <a:solidFill>
                  <a:srgbClr val="0000FF"/>
                </a:solidFill>
              </a:rPr>
              <a:t>위상 정렬 동작</a:t>
            </a:r>
            <a:r>
              <a:rPr lang="en-US" altLang="ko-KR" sz="2800" b="1" dirty="0">
                <a:solidFill>
                  <a:srgbClr val="0000FF"/>
                </a:solidFill>
              </a:rPr>
              <a:t> </a:t>
            </a:r>
            <a:r>
              <a:rPr lang="ko-KR" altLang="en-US" sz="2800" b="1" dirty="0">
                <a:solidFill>
                  <a:srgbClr val="0000FF"/>
                </a:solidFill>
              </a:rPr>
              <a:t>예시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9BDDDD2-FC14-8DAE-15FA-3700634FBE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1162755"/>
            <a:ext cx="8639601" cy="4282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51088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56FC3-722B-86F7-3B5A-7776A3973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936A9A7D-8A5F-E524-48ED-8C7721521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46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F5D6C8E7-EDA2-F6CC-B383-DE997F3DF4AB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1520" y="274638"/>
            <a:ext cx="8640960" cy="868362"/>
          </a:xfrm>
        </p:spPr>
        <p:txBody>
          <a:bodyPr/>
          <a:lstStyle/>
          <a:p>
            <a:pPr eaLnBrk="1" hangingPunct="1"/>
            <a:r>
              <a:rPr lang="ko-KR" altLang="en-US" sz="2800" b="1" dirty="0">
                <a:solidFill>
                  <a:srgbClr val="0000FF"/>
                </a:solidFill>
              </a:rPr>
              <a:t>위상 정렬 동작</a:t>
            </a:r>
            <a:r>
              <a:rPr lang="en-US" altLang="ko-KR" sz="2800" b="1" dirty="0">
                <a:solidFill>
                  <a:srgbClr val="0000FF"/>
                </a:solidFill>
              </a:rPr>
              <a:t> </a:t>
            </a:r>
            <a:r>
              <a:rPr lang="ko-KR" altLang="en-US" sz="2800" b="1" dirty="0">
                <a:solidFill>
                  <a:srgbClr val="0000FF"/>
                </a:solidFill>
              </a:rPr>
              <a:t>예시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3F57F71-0352-3B72-A547-5D431EA455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1131885"/>
            <a:ext cx="8584936" cy="4313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58086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E31E6-168B-4FB0-7A6C-6C7AE700E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6096E628-D8E1-77E4-EF7D-FAC5E354F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47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141087BD-B534-3E1A-52B4-39801B50D321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1520" y="274638"/>
            <a:ext cx="8640960" cy="868362"/>
          </a:xfrm>
        </p:spPr>
        <p:txBody>
          <a:bodyPr/>
          <a:lstStyle/>
          <a:p>
            <a:pPr eaLnBrk="1" hangingPunct="1"/>
            <a:r>
              <a:rPr lang="ko-KR" altLang="en-US" sz="2800" b="1" dirty="0">
                <a:solidFill>
                  <a:srgbClr val="0000FF"/>
                </a:solidFill>
              </a:rPr>
              <a:t>위상 정렬 동작</a:t>
            </a:r>
            <a:r>
              <a:rPr lang="en-US" altLang="ko-KR" sz="2800" b="1" dirty="0">
                <a:solidFill>
                  <a:srgbClr val="0000FF"/>
                </a:solidFill>
              </a:rPr>
              <a:t> </a:t>
            </a:r>
            <a:r>
              <a:rPr lang="ko-KR" altLang="en-US" sz="2800" b="1" dirty="0">
                <a:solidFill>
                  <a:srgbClr val="0000FF"/>
                </a:solidFill>
              </a:rPr>
              <a:t>예시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E33A1D6-C2C5-1494-729E-E127A9E654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1125645"/>
            <a:ext cx="8574063" cy="4319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32827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C863A-748B-5F04-69B5-9828608C8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38E33F67-5F7F-9465-F151-83B32C2F9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48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E049961C-53BD-3A03-D313-E558007ECB55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1520" y="274638"/>
            <a:ext cx="8640960" cy="868362"/>
          </a:xfrm>
        </p:spPr>
        <p:txBody>
          <a:bodyPr/>
          <a:lstStyle/>
          <a:p>
            <a:pPr eaLnBrk="1" hangingPunct="1"/>
            <a:r>
              <a:rPr lang="ko-KR" altLang="en-US" sz="2800" b="1" dirty="0">
                <a:solidFill>
                  <a:srgbClr val="0000FF"/>
                </a:solidFill>
              </a:rPr>
              <a:t>위상 정렬 동작</a:t>
            </a:r>
            <a:r>
              <a:rPr lang="en-US" altLang="ko-KR" sz="2800" b="1" dirty="0">
                <a:solidFill>
                  <a:srgbClr val="0000FF"/>
                </a:solidFill>
              </a:rPr>
              <a:t> </a:t>
            </a:r>
            <a:r>
              <a:rPr lang="ko-KR" altLang="en-US" sz="2800" b="1" dirty="0">
                <a:solidFill>
                  <a:srgbClr val="0000FF"/>
                </a:solidFill>
              </a:rPr>
              <a:t>예시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FED4B0E-BDB9-EA50-E503-5F9C0E306D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1144237"/>
            <a:ext cx="8606631" cy="4300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20917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2430E-7A76-1CFF-6C09-F6245C06E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51BB212B-56F9-BD12-887B-946887B50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49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E61ADA1F-AA32-7101-8CA6-B28B96E45E28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1520" y="274638"/>
            <a:ext cx="8640960" cy="868362"/>
          </a:xfrm>
        </p:spPr>
        <p:txBody>
          <a:bodyPr/>
          <a:lstStyle/>
          <a:p>
            <a:pPr eaLnBrk="1" hangingPunct="1"/>
            <a:r>
              <a:rPr lang="ko-KR" altLang="en-US" sz="2800" b="1" dirty="0">
                <a:solidFill>
                  <a:srgbClr val="0000FF"/>
                </a:solidFill>
              </a:rPr>
              <a:t>위상 정렬 동작</a:t>
            </a:r>
            <a:r>
              <a:rPr lang="en-US" altLang="ko-KR" sz="2800" b="1" dirty="0">
                <a:solidFill>
                  <a:srgbClr val="0000FF"/>
                </a:solidFill>
              </a:rPr>
              <a:t> </a:t>
            </a:r>
            <a:r>
              <a:rPr lang="ko-KR" altLang="en-US" sz="2800" b="1" dirty="0">
                <a:solidFill>
                  <a:srgbClr val="0000FF"/>
                </a:solidFill>
              </a:rPr>
              <a:t>예시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958D32B-EEBA-A462-4EDC-7ED3F14A2A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1134318"/>
            <a:ext cx="8640960" cy="4336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36743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ADD55-8C56-8D10-CD8A-50D0CF596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2BA81878-729A-C2BD-4026-A66179993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50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2C6C1192-B128-A873-33C8-0A7CEAEF130F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1520" y="274638"/>
            <a:ext cx="8640960" cy="868362"/>
          </a:xfrm>
        </p:spPr>
        <p:txBody>
          <a:bodyPr/>
          <a:lstStyle/>
          <a:p>
            <a:pPr eaLnBrk="1" hangingPunct="1"/>
            <a:r>
              <a:rPr lang="ko-KR" altLang="en-US" sz="2800" b="1" dirty="0">
                <a:solidFill>
                  <a:srgbClr val="0000FF"/>
                </a:solidFill>
              </a:rPr>
              <a:t>위상 정렬 동작</a:t>
            </a:r>
            <a:r>
              <a:rPr lang="en-US" altLang="ko-KR" sz="2800" b="1" dirty="0">
                <a:solidFill>
                  <a:srgbClr val="0000FF"/>
                </a:solidFill>
              </a:rPr>
              <a:t> </a:t>
            </a:r>
            <a:r>
              <a:rPr lang="ko-KR" altLang="en-US" sz="2800" b="1" dirty="0">
                <a:solidFill>
                  <a:srgbClr val="0000FF"/>
                </a:solidFill>
              </a:rPr>
              <a:t>예시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D90A0A9-5C6C-B26A-7A27-198AA48C34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1135578"/>
            <a:ext cx="8591399" cy="430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05702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E950E-832E-A66D-AADA-E0E1B4F92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0FA95EA5-9152-DBD0-A4B9-F054AFAF6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51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C32CD4FE-D923-167D-F2F4-559EB26B2345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1520" y="274638"/>
            <a:ext cx="8640960" cy="868362"/>
          </a:xfrm>
        </p:spPr>
        <p:txBody>
          <a:bodyPr/>
          <a:lstStyle/>
          <a:p>
            <a:pPr eaLnBrk="1" hangingPunct="1"/>
            <a:r>
              <a:rPr lang="ko-KR" altLang="en-US" sz="2800" b="1" dirty="0">
                <a:solidFill>
                  <a:srgbClr val="0000FF"/>
                </a:solidFill>
              </a:rPr>
              <a:t>위상 정렬 동작</a:t>
            </a:r>
            <a:r>
              <a:rPr lang="en-US" altLang="ko-KR" sz="2800" b="1" dirty="0">
                <a:solidFill>
                  <a:srgbClr val="0000FF"/>
                </a:solidFill>
              </a:rPr>
              <a:t> </a:t>
            </a:r>
            <a:r>
              <a:rPr lang="ko-KR" altLang="en-US" sz="2800" b="1" dirty="0">
                <a:solidFill>
                  <a:srgbClr val="0000FF"/>
                </a:solidFill>
              </a:rPr>
              <a:t>예시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0699CF6-E09C-2E48-40FA-6F54B8A16D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1140526"/>
            <a:ext cx="8600089" cy="4304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61084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7A2AC-BA03-9F06-CBCB-EEBFAF022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FDE218D1-517E-C8F2-D775-4DAB10204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52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4E9CC2AA-980D-507D-B4DB-3810FC7DF8B9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1520" y="274638"/>
            <a:ext cx="8640960" cy="868362"/>
          </a:xfrm>
        </p:spPr>
        <p:txBody>
          <a:bodyPr/>
          <a:lstStyle/>
          <a:p>
            <a:pPr eaLnBrk="1" hangingPunct="1"/>
            <a:r>
              <a:rPr lang="ko-KR" altLang="en-US" sz="2800" b="1" dirty="0">
                <a:solidFill>
                  <a:srgbClr val="0000FF"/>
                </a:solidFill>
              </a:rPr>
              <a:t>위상 정렬 동작</a:t>
            </a:r>
            <a:r>
              <a:rPr lang="en-US" altLang="ko-KR" sz="2800" b="1" dirty="0">
                <a:solidFill>
                  <a:srgbClr val="0000FF"/>
                </a:solidFill>
              </a:rPr>
              <a:t> </a:t>
            </a:r>
            <a:r>
              <a:rPr lang="ko-KR" altLang="en-US" sz="2800" b="1" dirty="0">
                <a:solidFill>
                  <a:srgbClr val="0000FF"/>
                </a:solidFill>
              </a:rPr>
              <a:t>예시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BABFA15-C31F-D50E-EA55-BA4D14382F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1154091"/>
            <a:ext cx="8640960" cy="4299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59259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674E8-EB3B-D4C1-B14B-C0E376513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A5B98559-8B86-80AE-E7B2-C7BF2D1DF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53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BE43B432-223B-60DD-CFFE-79C08175E3D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1520" y="274638"/>
            <a:ext cx="8640960" cy="868362"/>
          </a:xfrm>
        </p:spPr>
        <p:txBody>
          <a:bodyPr/>
          <a:lstStyle/>
          <a:p>
            <a:pPr eaLnBrk="1" hangingPunct="1"/>
            <a:r>
              <a:rPr lang="ko-KR" altLang="en-US" sz="2800" b="1" dirty="0">
                <a:solidFill>
                  <a:srgbClr val="0000FF"/>
                </a:solidFill>
              </a:rPr>
              <a:t>위상 정렬 동작</a:t>
            </a:r>
            <a:r>
              <a:rPr lang="en-US" altLang="ko-KR" sz="2800" b="1" dirty="0">
                <a:solidFill>
                  <a:srgbClr val="0000FF"/>
                </a:solidFill>
              </a:rPr>
              <a:t> </a:t>
            </a:r>
            <a:r>
              <a:rPr lang="ko-KR" altLang="en-US" sz="2800" b="1" dirty="0">
                <a:solidFill>
                  <a:srgbClr val="0000FF"/>
                </a:solidFill>
              </a:rPr>
              <a:t>예시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3A70229-0BB3-2462-A5EE-05C747833C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1152929"/>
            <a:ext cx="8622039" cy="4292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66422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699B6-12AD-6669-A3F9-F0414C69D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51A51981-4A52-C8A0-D01C-377508A89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54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E0A709A6-111A-50A2-2B96-4F946D8FF11A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1520" y="274638"/>
            <a:ext cx="8640960" cy="868362"/>
          </a:xfrm>
        </p:spPr>
        <p:txBody>
          <a:bodyPr/>
          <a:lstStyle/>
          <a:p>
            <a:pPr eaLnBrk="1" hangingPunct="1"/>
            <a:r>
              <a:rPr lang="ko-KR" altLang="en-US" sz="2800" b="1" dirty="0">
                <a:solidFill>
                  <a:srgbClr val="0000FF"/>
                </a:solidFill>
              </a:rPr>
              <a:t>위상 정렬 동작</a:t>
            </a:r>
            <a:r>
              <a:rPr lang="en-US" altLang="ko-KR" sz="2800" b="1" dirty="0">
                <a:solidFill>
                  <a:srgbClr val="0000FF"/>
                </a:solidFill>
              </a:rPr>
              <a:t> </a:t>
            </a:r>
            <a:r>
              <a:rPr lang="ko-KR" altLang="en-US" sz="2800" b="1" dirty="0">
                <a:solidFill>
                  <a:srgbClr val="0000FF"/>
                </a:solidFill>
              </a:rPr>
              <a:t>예시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DA9799F-7AE6-843B-A0A8-DD9A41F640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1050536"/>
            <a:ext cx="8586102" cy="4466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31887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6AE75-D367-7CCD-4EFD-14DC1E648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CF89FF20-E631-FAD0-4422-B97B351FB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55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BB448C19-7914-6D40-D9D0-2960FF2734A7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1520" y="274638"/>
            <a:ext cx="8640960" cy="868362"/>
          </a:xfrm>
        </p:spPr>
        <p:txBody>
          <a:bodyPr/>
          <a:lstStyle/>
          <a:p>
            <a:pPr eaLnBrk="1" hangingPunct="1"/>
            <a:r>
              <a:rPr lang="ko-KR" altLang="en-US" sz="2800" b="1" dirty="0">
                <a:solidFill>
                  <a:srgbClr val="0000FF"/>
                </a:solidFill>
              </a:rPr>
              <a:t>위상 정렬의 특징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3C1A8B2C-759D-8BA3-5878-4278D84C40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8"/>
            <a:ext cx="8640960" cy="4911725"/>
          </a:xfrm>
        </p:spPr>
        <p:txBody>
          <a:bodyPr/>
          <a:lstStyle/>
          <a:p>
            <a:pPr algn="just" eaLnBrk="1" hangingPunct="1"/>
            <a:r>
              <a:rPr lang="ko-KR" altLang="en-US" sz="2000" dirty="0"/>
              <a:t>위상 정렬은 </a:t>
            </a:r>
            <a:r>
              <a:rPr lang="en-US" altLang="ko-KR" sz="2000" dirty="0"/>
              <a:t>DAG</a:t>
            </a:r>
            <a:r>
              <a:rPr lang="ko-KR" altLang="en-US" sz="2000" dirty="0"/>
              <a:t>에 대해서만 수행 가능</a:t>
            </a:r>
            <a:endParaRPr lang="en-US" altLang="ko-KR" sz="2000" dirty="0"/>
          </a:p>
          <a:p>
            <a:pPr lvl="1" algn="just" eaLnBrk="1" hangingPunct="1"/>
            <a:r>
              <a:rPr lang="en-US" altLang="ko-KR" sz="1800" b="1" dirty="0"/>
              <a:t>DAG (Directed Acyclic Graph):</a:t>
            </a:r>
            <a:r>
              <a:rPr lang="en-US" altLang="ko-KR" sz="1800" dirty="0"/>
              <a:t> </a:t>
            </a:r>
            <a:r>
              <a:rPr lang="ko-KR" altLang="en-US" sz="1800" dirty="0"/>
              <a:t>순환하지 않는 방향 그래프</a:t>
            </a:r>
            <a:endParaRPr lang="en-US" altLang="ko-KR" sz="1800" dirty="0"/>
          </a:p>
          <a:p>
            <a:pPr algn="just" eaLnBrk="1" hangingPunct="1"/>
            <a:r>
              <a:rPr lang="ko-KR" altLang="en-US" sz="2000" dirty="0"/>
              <a:t>위상 정렬에서는 </a:t>
            </a:r>
            <a:r>
              <a:rPr lang="ko-KR" altLang="en-US" sz="2000" b="1" dirty="0"/>
              <a:t>여러 가지 답이 존재</a:t>
            </a:r>
            <a:r>
              <a:rPr lang="ko-KR" altLang="en-US" sz="2000" dirty="0"/>
              <a:t>할 수 있다</a:t>
            </a:r>
            <a:r>
              <a:rPr lang="en-US" altLang="ko-KR" sz="2000" dirty="0"/>
              <a:t>.</a:t>
            </a:r>
          </a:p>
          <a:p>
            <a:pPr lvl="1" algn="just" eaLnBrk="1" hangingPunct="1"/>
            <a:r>
              <a:rPr lang="ko-KR" altLang="en-US" sz="1800" dirty="0"/>
              <a:t>한 단계에서 큐에 새롭게 들어가는 원소가 </a:t>
            </a:r>
            <a:r>
              <a:rPr lang="en-US" altLang="ko-KR" sz="1800" dirty="0"/>
              <a:t>2</a:t>
            </a:r>
            <a:r>
              <a:rPr lang="ko-KR" altLang="en-US" sz="1800" dirty="0"/>
              <a:t>개 이상인 경우가 있다면 여러 가지 답이 존재한다</a:t>
            </a:r>
            <a:r>
              <a:rPr lang="en-US" altLang="ko-KR" sz="1800" dirty="0"/>
              <a:t>.</a:t>
            </a:r>
          </a:p>
          <a:p>
            <a:pPr algn="just" eaLnBrk="1" hangingPunct="1"/>
            <a:r>
              <a:rPr lang="ko-KR" altLang="en-US" sz="2000" b="1" dirty="0"/>
              <a:t>모든 원소를 방문하기 전에 큐가 빈다면 사이클이 존재</a:t>
            </a:r>
            <a:r>
              <a:rPr lang="ko-KR" altLang="en-US" sz="2000" dirty="0"/>
              <a:t>한다고 판단</a:t>
            </a:r>
            <a:endParaRPr lang="en-US" altLang="ko-KR" sz="2000" dirty="0"/>
          </a:p>
          <a:p>
            <a:pPr lvl="1" algn="just" eaLnBrk="1" hangingPunct="1"/>
            <a:r>
              <a:rPr lang="ko-KR" altLang="en-US" sz="1800" u="sng" dirty="0"/>
              <a:t>사이클이 포함된 원소 중에서 어떠한 원소도 큐에 들어가지 못한다</a:t>
            </a:r>
            <a:r>
              <a:rPr lang="en-US" altLang="ko-KR" sz="1800" u="sng" dirty="0"/>
              <a:t>.</a:t>
            </a:r>
          </a:p>
          <a:p>
            <a:pPr algn="just" eaLnBrk="1" hangingPunct="1"/>
            <a:r>
              <a:rPr lang="ko-KR" altLang="en-US" sz="2000" dirty="0"/>
              <a:t>스택을 활용한 </a:t>
            </a:r>
            <a:r>
              <a:rPr lang="en-US" altLang="ko-KR" sz="2000" dirty="0"/>
              <a:t>DFS</a:t>
            </a:r>
            <a:r>
              <a:rPr lang="ko-KR" altLang="en-US" sz="2000" dirty="0"/>
              <a:t>를 이용해 위상 정렬을 수행할 수도 있다</a:t>
            </a:r>
            <a:r>
              <a:rPr lang="en-US" altLang="ko-KR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7585845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20558-C459-F74A-C729-C989B138A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5ED26D21-3D8E-03C9-6AC9-B618EC26B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56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D4E0B7F1-B029-29F2-11C4-EDAE5C7ADDF5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1520" y="274638"/>
            <a:ext cx="8640960" cy="868362"/>
          </a:xfrm>
        </p:spPr>
        <p:txBody>
          <a:bodyPr/>
          <a:lstStyle/>
          <a:p>
            <a:pPr eaLnBrk="1" hangingPunct="1"/>
            <a:r>
              <a:rPr lang="ko-KR" altLang="en-US" sz="2800" b="1" dirty="0">
                <a:solidFill>
                  <a:srgbClr val="0000FF"/>
                </a:solidFill>
              </a:rPr>
              <a:t>위상 정렬 알고리즘 </a:t>
            </a:r>
            <a:r>
              <a:rPr lang="en-US" altLang="ko-KR" sz="2800" b="1" dirty="0">
                <a:solidFill>
                  <a:srgbClr val="0000FF"/>
                </a:solidFill>
              </a:rPr>
              <a:t>(Python)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FDA3775-8395-FA14-9011-AA5569C8A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1118628"/>
            <a:ext cx="8640960" cy="5239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09718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02462-D1FD-94C7-3166-14D9E673C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1521DBB9-F982-BEF6-5956-374041503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57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14C03469-9C39-4FEA-908E-DAF91195133F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1520" y="274638"/>
            <a:ext cx="8640960" cy="868362"/>
          </a:xfrm>
        </p:spPr>
        <p:txBody>
          <a:bodyPr/>
          <a:lstStyle/>
          <a:p>
            <a:pPr eaLnBrk="1" hangingPunct="1"/>
            <a:r>
              <a:rPr lang="ko-KR" altLang="en-US" sz="2800" b="1" dirty="0">
                <a:solidFill>
                  <a:srgbClr val="0000FF"/>
                </a:solidFill>
              </a:rPr>
              <a:t>위상 정렬 알고리즘 </a:t>
            </a:r>
            <a:r>
              <a:rPr lang="en-US" altLang="ko-KR" sz="2800" b="1" dirty="0">
                <a:solidFill>
                  <a:srgbClr val="0000FF"/>
                </a:solidFill>
              </a:rPr>
              <a:t>(C++)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25F5478-16EF-CC08-8AD9-8DEB0D7B08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042" y="1052736"/>
            <a:ext cx="7003915" cy="5518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56471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D6780-E621-F282-98A2-3A0B7DF52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BE293CC9-C167-BC1F-D158-B6241164C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58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522DC978-5071-36FA-0A18-9FDAED48A74E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1520" y="274638"/>
            <a:ext cx="8640960" cy="868362"/>
          </a:xfrm>
        </p:spPr>
        <p:txBody>
          <a:bodyPr/>
          <a:lstStyle/>
          <a:p>
            <a:pPr eaLnBrk="1" hangingPunct="1"/>
            <a:r>
              <a:rPr lang="ko-KR" altLang="en-US" sz="2800" b="1" dirty="0">
                <a:solidFill>
                  <a:srgbClr val="0000FF"/>
                </a:solidFill>
              </a:rPr>
              <a:t>위상 정렬 알고리즘 성능 분석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7E2D0812-3CDA-460F-CBCD-599CF61304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8"/>
            <a:ext cx="8640960" cy="4911725"/>
          </a:xfrm>
        </p:spPr>
        <p:txBody>
          <a:bodyPr/>
          <a:lstStyle/>
          <a:p>
            <a:pPr algn="just" eaLnBrk="1" hangingPunct="1"/>
            <a:r>
              <a:rPr lang="ko-KR" altLang="en-US" sz="2000" dirty="0"/>
              <a:t>위상 정렬을 위해 차례대로 모든 노드를 확인하며 각 노드에서 나가는 간선을 차례대로 제거해야 한다</a:t>
            </a:r>
            <a:r>
              <a:rPr lang="en-US" altLang="ko-KR" sz="2000" dirty="0"/>
              <a:t>.</a:t>
            </a:r>
          </a:p>
          <a:p>
            <a:pPr algn="just" eaLnBrk="1" hangingPunct="1"/>
            <a:r>
              <a:rPr lang="ko-KR" altLang="en-US" sz="2000" dirty="0"/>
              <a:t>위상 정렬 알고리즘의 시간 복잡도는 </a:t>
            </a:r>
            <a:r>
              <a:rPr lang="en-US" altLang="ko-KR" sz="2000" b="1" dirty="0"/>
              <a:t>O(V + E)</a:t>
            </a:r>
          </a:p>
        </p:txBody>
      </p:sp>
    </p:spTree>
    <p:extLst>
      <p:ext uri="{BB962C8B-B14F-4D97-AF65-F5344CB8AC3E}">
        <p14:creationId xmlns:p14="http://schemas.microsoft.com/office/powerpoint/2010/main" val="34120534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풍요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5459</TotalTime>
  <Words>1225</Words>
  <Application>Microsoft Office PowerPoint</Application>
  <PresentationFormat>화면 슬라이드 쇼(4:3)</PresentationFormat>
  <Paragraphs>249</Paragraphs>
  <Slides>58</Slides>
  <Notes>58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58</vt:i4>
      </vt:variant>
    </vt:vector>
  </HeadingPairs>
  <TitlesOfParts>
    <vt:vector size="62" baseType="lpstr">
      <vt:lpstr>굴림</vt:lpstr>
      <vt:lpstr>맑은 고딕</vt:lpstr>
      <vt:lpstr>Arial</vt:lpstr>
      <vt:lpstr>Office 테마</vt:lpstr>
      <vt:lpstr>기타 그래프 이론 (Union-Find 자료구조, 최소신장트리, 위상정렬) </vt:lpstr>
      <vt:lpstr>서로소 집합</vt:lpstr>
      <vt:lpstr>서로소 집합 자료구조</vt:lpstr>
      <vt:lpstr>서로소 집합 자료구조</vt:lpstr>
      <vt:lpstr>서로소 집합 자료구조: 동작 과정 살펴보기</vt:lpstr>
      <vt:lpstr>서로소 집합 자료구조: 동작 과정 살펴보기</vt:lpstr>
      <vt:lpstr>서로소 집합 자료구조: 동작 과정 살펴보기</vt:lpstr>
      <vt:lpstr>서로소 집합 자료구조: 동작 과정 살펴보기</vt:lpstr>
      <vt:lpstr>서로소 집합 자료구조: 동작 과정 살펴보기</vt:lpstr>
      <vt:lpstr>서로소 집합 자료구조: 연결성</vt:lpstr>
      <vt:lpstr>서로소 집합 자료구조: 연결성</vt:lpstr>
      <vt:lpstr>서로소 집합 자료구조: 기본적인 구현 방법 (Python)</vt:lpstr>
      <vt:lpstr>서로소 집합 자료구조: 기본적인 구현 방법 (C++)</vt:lpstr>
      <vt:lpstr>서로소 집합 자료구조: 기본적인 구현 방법의 문제점</vt:lpstr>
      <vt:lpstr>서로소 집합 자료구조: 경로 압축</vt:lpstr>
      <vt:lpstr>서로소 집합 자료구조: 경로 압축</vt:lpstr>
      <vt:lpstr>서로소 집합 자료구조: 경로 압축 (Python)</vt:lpstr>
      <vt:lpstr>서로소 집합을 활용한 사이클 판별</vt:lpstr>
      <vt:lpstr>서로소 집합을 활용한 사이클 판별: 동작 과정 살펴보기</vt:lpstr>
      <vt:lpstr>서로소 집합을 활용한 사이클 판별: 동작 과정 살펴보기</vt:lpstr>
      <vt:lpstr>서로소 집합을 활용한 사이클 판별: 동작 과정 살펴보기</vt:lpstr>
      <vt:lpstr>서로소 집합을 활용한 사이클 판별: 동작 과정 살펴보기</vt:lpstr>
      <vt:lpstr>서로소 집합을 활용한 사이클 판별 (Python)</vt:lpstr>
      <vt:lpstr>서로소 집합을 활용한 사이클 판별 (C++)</vt:lpstr>
      <vt:lpstr>신장 트리 (Spanning Tree)</vt:lpstr>
      <vt:lpstr>최소 신장 트리 (Minimum Spanning Tree)</vt:lpstr>
      <vt:lpstr>크루스칼 알고리즘 (Kruskal Algorithm)</vt:lpstr>
      <vt:lpstr>크루스칼 알고리즘: 동작 과정 살펴보기</vt:lpstr>
      <vt:lpstr>크루스칼 알고리즘: 동작 과정 살펴보기</vt:lpstr>
      <vt:lpstr>크루스칼 알고리즘: 동작 과정 살펴보기</vt:lpstr>
      <vt:lpstr>크루스칼 알고리즘: 동작 과정 살펴보기</vt:lpstr>
      <vt:lpstr>크루스칼 알고리즘: 동작 과정 살펴보기</vt:lpstr>
      <vt:lpstr>크루스칼 알고리즘: 동작 과정 살펴보기</vt:lpstr>
      <vt:lpstr>크루스칼 알고리즘: 동작 과정 살펴보기</vt:lpstr>
      <vt:lpstr>크루스칼 알고리즘: 동작 과정 살펴보기</vt:lpstr>
      <vt:lpstr>크루스칼 알고리즘: 동작 과정 살펴보기</vt:lpstr>
      <vt:lpstr>크루스칼 알고리즘: 동작 과정 살펴보기</vt:lpstr>
      <vt:lpstr>크루스칼 알고리즘: 동작 과정 살펴보기</vt:lpstr>
      <vt:lpstr>크루스칼 알고리즘: 구현 예시 (Python)</vt:lpstr>
      <vt:lpstr>크루스칼 알고리즘: 구현 예시 (C++)</vt:lpstr>
      <vt:lpstr>크루스칼 알고리즘 성능 분석</vt:lpstr>
      <vt:lpstr>위상 정렬</vt:lpstr>
      <vt:lpstr>진입차수와 진출차수</vt:lpstr>
      <vt:lpstr>위상 정렬 알고리즘</vt:lpstr>
      <vt:lpstr>위상 정렬 동작 예시</vt:lpstr>
      <vt:lpstr>위상 정렬 동작 예시</vt:lpstr>
      <vt:lpstr>위상 정렬 동작 예시</vt:lpstr>
      <vt:lpstr>위상 정렬 동작 예시</vt:lpstr>
      <vt:lpstr>위상 정렬 동작 예시</vt:lpstr>
      <vt:lpstr>위상 정렬 동작 예시</vt:lpstr>
      <vt:lpstr>위상 정렬 동작 예시</vt:lpstr>
      <vt:lpstr>위상 정렬 동작 예시</vt:lpstr>
      <vt:lpstr>위상 정렬 동작 예시</vt:lpstr>
      <vt:lpstr>위상 정렬 동작 예시</vt:lpstr>
      <vt:lpstr>위상 정렬의 특징</vt:lpstr>
      <vt:lpstr>위상 정렬 알고리즘 (Python)</vt:lpstr>
      <vt:lpstr>위상 정렬 알고리즘 (C++)</vt:lpstr>
      <vt:lpstr>위상 정렬 알고리즘 성능 분석</vt:lpstr>
    </vt:vector>
  </TitlesOfParts>
  <Company>kpu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STL</dc:title>
  <dc:creator>kys</dc:creator>
  <cp:lastModifiedBy>Ryzen 4750G</cp:lastModifiedBy>
  <cp:revision>257</cp:revision>
  <cp:lastPrinted>2023-07-23T09:30:34Z</cp:lastPrinted>
  <dcterms:created xsi:type="dcterms:W3CDTF">2008-03-02T04:39:19Z</dcterms:created>
  <dcterms:modified xsi:type="dcterms:W3CDTF">2025-05-29T23:04:24Z</dcterms:modified>
</cp:coreProperties>
</file>